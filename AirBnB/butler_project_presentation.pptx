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78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64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9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9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6.png"/><Relationship Id="rId5" Type="http://schemas.openxmlformats.org/officeDocument/2006/relationships/image" Target="../media/image74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9.png"/><Relationship Id="rId7" Type="http://schemas.openxmlformats.org/officeDocument/2006/relationships/image" Target="../media/image65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2.png"/><Relationship Id="rId5" Type="http://schemas.openxmlformats.org/officeDocument/2006/relationships/image" Target="../media/image78.png"/><Relationship Id="rId10" Type="http://schemas.openxmlformats.org/officeDocument/2006/relationships/image" Target="../media/image81.png"/><Relationship Id="rId4" Type="http://schemas.openxmlformats.org/officeDocument/2006/relationships/image" Target="../media/image77.png"/><Relationship Id="rId9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9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86.png"/><Relationship Id="rId5" Type="http://schemas.openxmlformats.org/officeDocument/2006/relationships/image" Target="../media/image84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9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66.png"/><Relationship Id="rId3" Type="http://schemas.openxmlformats.org/officeDocument/2006/relationships/image" Target="../media/image9.png"/><Relationship Id="rId7" Type="http://schemas.openxmlformats.org/officeDocument/2006/relationships/image" Target="../media/image90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99.png"/><Relationship Id="rId15" Type="http://schemas.openxmlformats.org/officeDocument/2006/relationships/image" Target="../media/image103.png"/><Relationship Id="rId10" Type="http://schemas.openxmlformats.org/officeDocument/2006/relationships/image" Target="../media/image101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109.png"/><Relationship Id="rId3" Type="http://schemas.openxmlformats.org/officeDocument/2006/relationships/image" Target="../media/image9.png"/><Relationship Id="rId7" Type="http://schemas.openxmlformats.org/officeDocument/2006/relationships/image" Target="../media/image10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108.png"/><Relationship Id="rId5" Type="http://schemas.openxmlformats.org/officeDocument/2006/relationships/image" Target="../media/image105.png"/><Relationship Id="rId10" Type="http://schemas.openxmlformats.org/officeDocument/2006/relationships/image" Target="../media/image94.png"/><Relationship Id="rId4" Type="http://schemas.openxmlformats.org/officeDocument/2006/relationships/image" Target="../media/image104.png"/><Relationship Id="rId9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114.png"/><Relationship Id="rId3" Type="http://schemas.openxmlformats.org/officeDocument/2006/relationships/image" Target="../media/image9.png"/><Relationship Id="rId7" Type="http://schemas.openxmlformats.org/officeDocument/2006/relationships/image" Target="../media/image111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113.png"/><Relationship Id="rId5" Type="http://schemas.openxmlformats.org/officeDocument/2006/relationships/image" Target="../media/image105.png"/><Relationship Id="rId10" Type="http://schemas.openxmlformats.org/officeDocument/2006/relationships/image" Target="../media/image94.png"/><Relationship Id="rId4" Type="http://schemas.openxmlformats.org/officeDocument/2006/relationships/image" Target="../media/image110.png"/><Relationship Id="rId9" Type="http://schemas.openxmlformats.org/officeDocument/2006/relationships/image" Target="../media/image1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.png"/><Relationship Id="rId21" Type="http://schemas.openxmlformats.org/officeDocument/2006/relationships/image" Target="../media/image147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3" Type="http://schemas.openxmlformats.org/officeDocument/2006/relationships/image" Target="../media/image1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60.png"/><Relationship Id="rId20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19" Type="http://schemas.openxmlformats.org/officeDocument/2006/relationships/image" Target="../media/image163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952805" y="4000500"/>
            <a:ext cx="3810305" cy="38103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61695" y="1531620"/>
            <a:ext cx="10840212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98" dirty="0">
                <a:solidFill>
                  <a:srgbClr val="F1F4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BUTLER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198" dirty="0">
                <a:solidFill>
                  <a:srgbClr val="F1F4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PROJECT </a:t>
            </a:r>
            <a:endParaRPr lang="en-US" sz="6600" dirty="0"/>
          </a:p>
        </p:txBody>
      </p:sp>
      <p:sp>
        <p:nvSpPr>
          <p:cNvPr id="9" name="Shape 3"/>
          <p:cNvSpPr/>
          <p:nvPr/>
        </p:nvSpPr>
        <p:spPr>
          <a:xfrm>
            <a:off x="761695" y="3566160"/>
            <a:ext cx="571500" cy="38405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1524305" y="3566160"/>
            <a:ext cx="493867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생애주기 자산 AI 관리 플랫폼</a:t>
            </a:r>
            <a:endParaRPr lang="en-US" sz="2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761695" y="4450385"/>
            <a:ext cx="7619695" cy="14859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04595" y="4735678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All-in-One 부동산 자산관리 솔루션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빅데이터와 AI 기술을 활용하여 임대인의 자산 가치를 극대화하고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투명한 임대차 문화를 선도하는 혁신적인 프롭테크 플랫폼 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 t="-24" b="-24"/>
          <a:stretch/>
        </p:blipFill>
        <p:spPr>
          <a:xfrm>
            <a:off x="761695" y="491033"/>
            <a:ext cx="476402" cy="3813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380744" y="476402"/>
            <a:ext cx="11914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3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BUTLER</a:t>
            </a:r>
            <a:endParaRPr lang="en-US" sz="2100" dirty="0"/>
          </a:p>
        </p:txBody>
      </p:sp>
      <p:sp>
        <p:nvSpPr>
          <p:cNvPr id="15" name="Shape 7"/>
          <p:cNvSpPr/>
          <p:nvPr/>
        </p:nvSpPr>
        <p:spPr>
          <a:xfrm>
            <a:off x="8273491" y="5282489"/>
            <a:ext cx="316199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8"/>
          <p:cNvSpPr txBox="1"/>
          <p:nvPr/>
        </p:nvSpPr>
        <p:spPr>
          <a:xfrm>
            <a:off x="10498226" y="5482742"/>
            <a:ext cx="10524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2026. 03. 12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 t="-2725" b="-2725"/>
          <a:stretch/>
        </p:blipFill>
        <p:spPr>
          <a:xfrm>
            <a:off x="10260482" y="5522976"/>
            <a:ext cx="142646" cy="171907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577986" y="5781751"/>
            <a:ext cx="306506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개발팀 (주)오드레몬오리진 &amp; 산학협력단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8273491" y="5821985"/>
            <a:ext cx="209398" cy="171907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159191" y="6128309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&amp; Proprietary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571500" y="0"/>
            <a:ext cx="9144" cy="6858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52805" y="1219810"/>
            <a:ext cx="1047719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2"/>
          <p:cNvSpPr txBox="1"/>
          <p:nvPr/>
        </p:nvSpPr>
        <p:spPr>
          <a:xfrm>
            <a:off x="952805" y="571500"/>
            <a:ext cx="223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8443570" y="729691"/>
            <a:ext cx="37517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버틀러(Butler) 프로젝트 개발 계획 및 소개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9153144" y="7222846"/>
            <a:ext cx="27203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2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952805" y="1705356"/>
            <a:ext cx="3305556" cy="2676449"/>
          </a:xfrm>
          <a:prstGeom prst="roundRect">
            <a:avLst>
              <a:gd name="adj" fmla="val 291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952805" y="1705356"/>
            <a:ext cx="38405" cy="2676449"/>
          </a:xfrm>
          <a:prstGeom prst="roundRect">
            <a:avLst>
              <a:gd name="adj" fmla="val 203354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 txBox="1"/>
          <p:nvPr/>
        </p:nvSpPr>
        <p:spPr>
          <a:xfrm>
            <a:off x="3486607" y="1895551"/>
            <a:ext cx="70866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200" dirty="0"/>
          </a:p>
        </p:txBody>
      </p:sp>
      <p:sp>
        <p:nvSpPr>
          <p:cNvPr id="13" name="Shape 8"/>
          <p:cNvSpPr/>
          <p:nvPr/>
        </p:nvSpPr>
        <p:spPr>
          <a:xfrm>
            <a:off x="1228954" y="194310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013" b="-1013"/>
          <a:stretch/>
        </p:blipFill>
        <p:spPr>
          <a:xfrm>
            <a:off x="1314907" y="2042770"/>
            <a:ext cx="304495" cy="27614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28954" y="2562149"/>
            <a:ext cx="28675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 &amp; Market Analysis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228954" y="3299155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비전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1228954" y="3375965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1228954" y="3578047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현황: 가계자산 부동산 편중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228954" y="3654857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1228954" y="3856939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문제점 분석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228954" y="3933749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4539996" y="1705356"/>
            <a:ext cx="3305556" cy="2676449"/>
          </a:xfrm>
          <a:prstGeom prst="roundRect">
            <a:avLst>
              <a:gd name="adj" fmla="val 291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4539996" y="1705356"/>
            <a:ext cx="38405" cy="2676449"/>
          </a:xfrm>
          <a:prstGeom prst="roundRect">
            <a:avLst>
              <a:gd name="adj" fmla="val 203354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6970471" y="1895551"/>
            <a:ext cx="762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200" dirty="0"/>
          </a:p>
        </p:txBody>
      </p:sp>
      <p:sp>
        <p:nvSpPr>
          <p:cNvPr id="25" name="Shape 19"/>
          <p:cNvSpPr/>
          <p:nvPr/>
        </p:nvSpPr>
        <p:spPr>
          <a:xfrm>
            <a:off x="4816145" y="194310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BBF2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552" r="-552"/>
          <a:stretch/>
        </p:blipFill>
        <p:spPr>
          <a:xfrm>
            <a:off x="4949647" y="2042770"/>
            <a:ext cx="209398" cy="2761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16145" y="2562149"/>
            <a:ext cx="29032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&amp; Key Features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816145" y="3001975"/>
            <a:ext cx="2903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버틀러(Butler) 솔루션 소개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816145" y="3078785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 txBox="1"/>
          <p:nvPr/>
        </p:nvSpPr>
        <p:spPr>
          <a:xfrm>
            <a:off x="4816145" y="3280867"/>
            <a:ext cx="2903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제안 (Value Proposition)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816145" y="3357677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4816145" y="3559759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기능: CRM, 대시보드, 리포트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16145" y="3636569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128102" y="1705356"/>
            <a:ext cx="3305556" cy="2676449"/>
          </a:xfrm>
          <a:prstGeom prst="roundRect">
            <a:avLst>
              <a:gd name="adj" fmla="val 291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8128102" y="1705356"/>
            <a:ext cx="38405" cy="2676449"/>
          </a:xfrm>
          <a:prstGeom prst="roundRect">
            <a:avLst>
              <a:gd name="adj" fmla="val 20335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10557662" y="1895551"/>
            <a:ext cx="762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200" dirty="0"/>
          </a:p>
        </p:txBody>
      </p:sp>
      <p:sp>
        <p:nvSpPr>
          <p:cNvPr id="37" name="Shape 30"/>
          <p:cNvSpPr/>
          <p:nvPr/>
        </p:nvSpPr>
        <p:spPr>
          <a:xfrm>
            <a:off x="8404250" y="194310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03920" y="2042770"/>
            <a:ext cx="276149" cy="276149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404250" y="2562149"/>
            <a:ext cx="29032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Technology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8404250" y="3001975"/>
            <a:ext cx="2903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Settlement Logic (수선비)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404250" y="3078785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8404250" y="3280867"/>
            <a:ext cx="2903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OCR 기반 자동화 기술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404250" y="3357677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8404250" y="3559759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API 연동 및 분석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404250" y="3636569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8"/>
          <p:cNvSpPr/>
          <p:nvPr/>
        </p:nvSpPr>
        <p:spPr>
          <a:xfrm>
            <a:off x="952805" y="4659782"/>
            <a:ext cx="3305556" cy="2381098"/>
          </a:xfrm>
          <a:prstGeom prst="roundRect">
            <a:avLst>
              <a:gd name="adj" fmla="val 36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9"/>
          <p:cNvSpPr/>
          <p:nvPr/>
        </p:nvSpPr>
        <p:spPr>
          <a:xfrm>
            <a:off x="952805" y="4659782"/>
            <a:ext cx="38405" cy="2381098"/>
          </a:xfrm>
          <a:prstGeom prst="roundRect">
            <a:avLst>
              <a:gd name="adj" fmla="val 22857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 txBox="1"/>
          <p:nvPr/>
        </p:nvSpPr>
        <p:spPr>
          <a:xfrm>
            <a:off x="3324758" y="4850892"/>
            <a:ext cx="819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200" dirty="0"/>
          </a:p>
        </p:txBody>
      </p:sp>
      <p:sp>
        <p:nvSpPr>
          <p:cNvPr id="49" name="Shape 41"/>
          <p:cNvSpPr/>
          <p:nvPr/>
        </p:nvSpPr>
        <p:spPr>
          <a:xfrm>
            <a:off x="1228954" y="4898441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28623" y="4998110"/>
            <a:ext cx="276149" cy="276149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1228954" y="5517490"/>
            <a:ext cx="29032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&amp; Roadmap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1228954" y="5957316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및 시스템 아키텍처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1228954" y="6033211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5"/>
          <p:cNvSpPr txBox="1"/>
          <p:nvPr/>
        </p:nvSpPr>
        <p:spPr>
          <a:xfrm>
            <a:off x="1228954" y="6236208"/>
            <a:ext cx="2903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개발 계획 (Phase 0~4)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1228954" y="6312103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7"/>
          <p:cNvSpPr txBox="1"/>
          <p:nvPr/>
        </p:nvSpPr>
        <p:spPr>
          <a:xfrm>
            <a:off x="1228954" y="6515100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일정 및 마일스톤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1228954" y="6590995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9"/>
          <p:cNvSpPr/>
          <p:nvPr/>
        </p:nvSpPr>
        <p:spPr>
          <a:xfrm>
            <a:off x="4539996" y="4659782"/>
            <a:ext cx="3305556" cy="2381098"/>
          </a:xfrm>
          <a:prstGeom prst="roundRect">
            <a:avLst>
              <a:gd name="adj" fmla="val 36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0"/>
          <p:cNvSpPr/>
          <p:nvPr/>
        </p:nvSpPr>
        <p:spPr>
          <a:xfrm>
            <a:off x="4539996" y="4659782"/>
            <a:ext cx="38405" cy="2381098"/>
          </a:xfrm>
          <a:prstGeom prst="roundRect">
            <a:avLst>
              <a:gd name="adj" fmla="val 228570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1"/>
          <p:cNvSpPr txBox="1"/>
          <p:nvPr/>
        </p:nvSpPr>
        <p:spPr>
          <a:xfrm>
            <a:off x="6962242" y="4850892"/>
            <a:ext cx="7717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200" dirty="0"/>
          </a:p>
        </p:txBody>
      </p:sp>
      <p:sp>
        <p:nvSpPr>
          <p:cNvPr id="61" name="Shape 52"/>
          <p:cNvSpPr/>
          <p:nvPr/>
        </p:nvSpPr>
        <p:spPr>
          <a:xfrm>
            <a:off x="4816145" y="4898441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10"/>
          <a:srcRect t="-333" b="-333"/>
          <a:stretch/>
        </p:blipFill>
        <p:spPr>
          <a:xfrm>
            <a:off x="4882896" y="4998110"/>
            <a:ext cx="342900" cy="276149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4816145" y="5517490"/>
            <a:ext cx="29032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&amp; Conclusion</a:t>
            </a:r>
            <a:endParaRPr lang="en-US" sz="1500" dirty="0"/>
          </a:p>
        </p:txBody>
      </p:sp>
      <p:sp>
        <p:nvSpPr>
          <p:cNvPr id="64" name="Text 54"/>
          <p:cNvSpPr txBox="1"/>
          <p:nvPr/>
        </p:nvSpPr>
        <p:spPr>
          <a:xfrm>
            <a:off x="4816145" y="5957316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인원 및 역할 분담</a:t>
            </a:r>
            <a:endParaRPr lang="en-US" sz="1100" dirty="0"/>
          </a:p>
        </p:txBody>
      </p:sp>
      <p:sp>
        <p:nvSpPr>
          <p:cNvPr id="65" name="Shape 55"/>
          <p:cNvSpPr/>
          <p:nvPr/>
        </p:nvSpPr>
        <p:spPr>
          <a:xfrm>
            <a:off x="4816145" y="6033211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6"/>
          <p:cNvSpPr txBox="1"/>
          <p:nvPr/>
        </p:nvSpPr>
        <p:spPr>
          <a:xfrm>
            <a:off x="4816145" y="6236208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소개: (주)오드레몬오리진</a:t>
            </a:r>
            <a:endParaRPr lang="en-US" sz="1100" dirty="0"/>
          </a:p>
        </p:txBody>
      </p:sp>
      <p:sp>
        <p:nvSpPr>
          <p:cNvPr id="67" name="Shape 57"/>
          <p:cNvSpPr/>
          <p:nvPr/>
        </p:nvSpPr>
        <p:spPr>
          <a:xfrm>
            <a:off x="4816145" y="6312103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8"/>
          <p:cNvSpPr txBox="1"/>
          <p:nvPr/>
        </p:nvSpPr>
        <p:spPr>
          <a:xfrm>
            <a:off x="4816145" y="6515100"/>
            <a:ext cx="2981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및 비전</a:t>
            </a:r>
            <a:endParaRPr lang="en-US" sz="1100" dirty="0"/>
          </a:p>
        </p:txBody>
      </p:sp>
      <p:sp>
        <p:nvSpPr>
          <p:cNvPr id="69" name="Shape 59"/>
          <p:cNvSpPr/>
          <p:nvPr/>
        </p:nvSpPr>
        <p:spPr>
          <a:xfrm>
            <a:off x="4816145" y="6590995"/>
            <a:ext cx="38405" cy="3840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1">
            <a:alphaModFix amt="30000"/>
          </a:blip>
          <a:srcRect l="-23" r="-23"/>
          <a:stretch/>
        </p:blipFill>
        <p:spPr>
          <a:xfrm>
            <a:off x="9016898" y="5236769"/>
            <a:ext cx="1524305" cy="1218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20369" r="20369"/>
          <a:stretch/>
        </p:blipFill>
        <p:spPr>
          <a:xfrm>
            <a:off x="6096305" y="0"/>
            <a:ext cx="609630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1A202C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761695" y="1143000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42958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10042855" y="747065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 개요 &gt; 배경 및 비전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71093" y="1533449"/>
            <a:ext cx="39438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8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WHY NOW? 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61695" y="1533449"/>
            <a:ext cx="2762402" cy="9144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7078" r="-7078"/>
          <a:stretch/>
        </p:blipFill>
        <p:spPr>
          <a:xfrm>
            <a:off x="761695" y="1570025"/>
            <a:ext cx="114300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1695" y="1881835"/>
            <a:ext cx="4165092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시장의 패러다임 변화,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지금이 </a:t>
            </a:r>
            <a:r>
              <a:rPr lang="en-US" sz="26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골든타임</a:t>
            </a: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2600" dirty="0"/>
          </a:p>
        </p:txBody>
      </p:sp>
      <p:sp>
        <p:nvSpPr>
          <p:cNvPr id="14" name="Shape 9"/>
          <p:cNvSpPr/>
          <p:nvPr/>
        </p:nvSpPr>
        <p:spPr>
          <a:xfrm>
            <a:off x="761695" y="2979017"/>
            <a:ext cx="4038905" cy="1114654"/>
          </a:xfrm>
          <a:prstGeom prst="roundRect">
            <a:avLst>
              <a:gd name="adj" fmla="val 1402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761695" y="2979017"/>
            <a:ext cx="28346" cy="1114654"/>
          </a:xfrm>
          <a:prstGeom prst="roundRect">
            <a:avLst>
              <a:gd name="adj" fmla="val 551428"/>
            </a:avLst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1333195" y="3169213"/>
            <a:ext cx="3467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전세의 월세화 가속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333195" y="3468221"/>
            <a:ext cx="33531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임대인의 월간 관리 업무 부하 급증 및 잦은 입퇴거 이슈 발생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1695" y="4283866"/>
            <a:ext cx="4038905" cy="1114654"/>
          </a:xfrm>
          <a:prstGeom prst="roundRect">
            <a:avLst>
              <a:gd name="adj" fmla="val 1402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761695" y="4283866"/>
            <a:ext cx="28346" cy="1114654"/>
          </a:xfrm>
          <a:prstGeom prst="roundRect">
            <a:avLst>
              <a:gd name="adj" fmla="val 551428"/>
            </a:avLst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1333195" y="4474061"/>
            <a:ext cx="3467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임대인 급증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4773985"/>
            <a:ext cx="33531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거주지와 보유 물건지가 다른 소유주 증가로 비대면 관리 수요 폭발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61695" y="5588715"/>
            <a:ext cx="4038905" cy="1114654"/>
          </a:xfrm>
          <a:prstGeom prst="roundRect">
            <a:avLst>
              <a:gd name="adj" fmla="val 1402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61695" y="5588715"/>
            <a:ext cx="28346" cy="1114654"/>
          </a:xfrm>
          <a:prstGeom prst="roundRect">
            <a:avLst>
              <a:gd name="adj" fmla="val 551428"/>
            </a:avLst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1304849" y="5778910"/>
            <a:ext cx="3495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사각지대 존재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1304849" y="6078833"/>
            <a:ext cx="3381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노후화 및 주관적 기준으로 인한 임대인-임차인 간 사회적 갈등 심화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5639105" y="1533449"/>
            <a:ext cx="59051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8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VISION 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372100" y="1533449"/>
            <a:ext cx="5109667" cy="9144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7230" r="-7230"/>
          <a:stretch/>
        </p:blipFill>
        <p:spPr>
          <a:xfrm>
            <a:off x="5372100" y="1570025"/>
            <a:ext cx="171907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619902" y="4429354"/>
            <a:ext cx="59243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8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MISSION 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372100" y="4429354"/>
            <a:ext cx="4997196" cy="9144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7192" r="-7192"/>
          <a:stretch/>
        </p:blipFill>
        <p:spPr>
          <a:xfrm>
            <a:off x="5372100" y="4465930"/>
            <a:ext cx="152705" cy="13350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372100" y="5063947"/>
            <a:ext cx="2933395" cy="2143354"/>
          </a:xfrm>
          <a:prstGeom prst="roundRect">
            <a:avLst>
              <a:gd name="adj" fmla="val 4551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5372100" y="5063947"/>
            <a:ext cx="2933395" cy="28346"/>
          </a:xfrm>
          <a:prstGeom prst="roundRect">
            <a:avLst>
              <a:gd name="adj" fmla="val 344091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 txBox="1"/>
          <p:nvPr/>
        </p:nvSpPr>
        <p:spPr>
          <a:xfrm>
            <a:off x="5896051" y="5330952"/>
            <a:ext cx="23618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 갈등 해결 </a:t>
            </a:r>
            <a:endParaRPr lang="en-US" sz="13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t="-1310" b="-1310"/>
          <a:stretch/>
        </p:blipFill>
        <p:spPr>
          <a:xfrm>
            <a:off x="5609844" y="5371186"/>
            <a:ext cx="209398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609844" y="5677510"/>
            <a:ext cx="25338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대법원 판례 및 감가상각 기준을 학습한 알고리즘을 통해 수선비 분쟁을 객관적 지표로 해결합니다.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8496605" y="5063947"/>
            <a:ext cx="2933395" cy="2143354"/>
          </a:xfrm>
          <a:prstGeom prst="roundRect">
            <a:avLst>
              <a:gd name="adj" fmla="val 4551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8496605" y="5063947"/>
            <a:ext cx="2933395" cy="28346"/>
          </a:xfrm>
          <a:prstGeom prst="roundRect">
            <a:avLst>
              <a:gd name="adj" fmla="val 344091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 txBox="1"/>
          <p:nvPr/>
        </p:nvSpPr>
        <p:spPr>
          <a:xfrm>
            <a:off x="8934602" y="5330952"/>
            <a:ext cx="244784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비대면 자산관리 표준화 </a:t>
            </a:r>
            <a:endParaRPr lang="en-US" sz="13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t="-2222" b="-2222"/>
          <a:stretch/>
        </p:blipFill>
        <p:spPr>
          <a:xfrm>
            <a:off x="8734349" y="5371186"/>
            <a:ext cx="123444" cy="171907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734349" y="5677510"/>
            <a:ext cx="25338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점검부터 리포트 발행, 업체 매칭까지 원격 임대인을 위한 완벽한 비대면 인프라를 구축합니다.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9279331" y="7295083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3</a:t>
            </a:r>
            <a:endParaRPr lang="en-US" sz="10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 l="-1403" r="-1403"/>
          <a:stretch/>
        </p:blipFill>
        <p:spPr>
          <a:xfrm>
            <a:off x="981151" y="3249680"/>
            <a:ext cx="209398" cy="181051"/>
          </a:xfrm>
          <a:prstGeom prst="rect">
            <a:avLst/>
          </a:prstGeom>
        </p:spPr>
      </p:pic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 l="-1403" r="-1403"/>
          <a:stretch/>
        </p:blipFill>
        <p:spPr>
          <a:xfrm>
            <a:off x="981151" y="4554529"/>
            <a:ext cx="209398" cy="181051"/>
          </a:xfrm>
          <a:prstGeom prst="rect">
            <a:avLst/>
          </a:prstGeom>
        </p:spPr>
      </p:pic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81151" y="5859377"/>
            <a:ext cx="181051" cy="181051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5372100" y="2168042"/>
            <a:ext cx="6057900" cy="1886407"/>
          </a:xfrm>
          <a:prstGeom prst="roundRect">
            <a:avLst>
              <a:gd name="adj" fmla="val 783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2950" r="-2950"/>
          <a:stretch/>
        </p:blipFill>
        <p:spPr>
          <a:xfrm>
            <a:off x="9924898" y="2410358"/>
            <a:ext cx="1686154" cy="1819656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5667451" y="2463394"/>
            <a:ext cx="55824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Log</a:t>
            </a: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기반 생애주기 자산관리 </a:t>
            </a:r>
            <a:endParaRPr lang="en-US" sz="1800" dirty="0"/>
          </a:p>
        </p:txBody>
      </p:sp>
      <p:sp>
        <p:nvSpPr>
          <p:cNvPr id="49" name="Text 36"/>
          <p:cNvSpPr txBox="1"/>
          <p:nvPr/>
        </p:nvSpPr>
        <p:spPr>
          <a:xfrm>
            <a:off x="5667451" y="2948940"/>
            <a:ext cx="55440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버틀러(Butler)는 단순 중개 플랫폼을 넘어,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주택의 전 생애주기를 데이터로 기록하고 관리하는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All-in-One 아파트 자산관리 솔루션</a:t>
            </a: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 txBox="1"/>
          <p:nvPr/>
        </p:nvSpPr>
        <p:spPr>
          <a:xfrm>
            <a:off x="761695" y="476402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154973" y="651053"/>
            <a:ext cx="271759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 시장 현황 &gt; 가계자산 부동산 편중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1423721"/>
            <a:ext cx="5239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70</a:t>
            </a:r>
            <a:r>
              <a:rPr lang="en-US" sz="36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</a:t>
            </a:r>
            <a:endParaRPr lang="en-US" sz="7200" dirty="0"/>
          </a:p>
        </p:txBody>
      </p:sp>
      <p:sp>
        <p:nvSpPr>
          <p:cNvPr id="9" name="Text 5"/>
          <p:cNvSpPr txBox="1"/>
          <p:nvPr/>
        </p:nvSpPr>
        <p:spPr>
          <a:xfrm>
            <a:off x="2043684" y="1814170"/>
            <a:ext cx="495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433218"/>
            <a:ext cx="5162702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가계 자산의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절반 이상이 부동산</a:t>
            </a: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편중되어 있습니다.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3999586"/>
            <a:ext cx="51252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대다수의 자산이 아파트와 같은 집합 건물에 집중되어 있지만, 자산 자체의 가치 보존과 관리에 대한 인식은 현저히 부족합니다.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1695" y="4954219"/>
            <a:ext cx="5048402" cy="1561795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61695" y="4954219"/>
            <a:ext cx="38405" cy="1561795"/>
          </a:xfrm>
          <a:prstGeom prst="roundRect">
            <a:avLst>
              <a:gd name="adj" fmla="val 34843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304849" y="5192878"/>
            <a:ext cx="4381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관리의 사각지대 (Blind Spot) 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7844" y="5232197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37844" y="5539435"/>
            <a:ext cx="46104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"가장 비싼 자산임에도 불구하고, </a:t>
            </a: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관리 시스템이 부재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가격 상승 중심의 시장에서 가치 보존 중심으로의 패러다임 전환이 시급합니다." 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61695" y="6589166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61695" y="6694322"/>
            <a:ext cx="20638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Source: Statistics Korea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9279331" y="6694322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4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381598" y="1343254"/>
            <a:ext cx="5048402" cy="5248656"/>
          </a:xfrm>
          <a:prstGeom prst="roundRect">
            <a:avLst>
              <a:gd name="adj" fmla="val 1367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7024421" y="1628546"/>
            <a:ext cx="42345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ASSET COMPOSITION 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403" r="-1403"/>
          <a:stretch/>
        </p:blipFill>
        <p:spPr>
          <a:xfrm>
            <a:off x="6667805" y="1670609"/>
            <a:ext cx="209398" cy="181051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6667805" y="2093976"/>
            <a:ext cx="4476902" cy="33339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135417" y="3470148"/>
            <a:ext cx="1543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76.8%</a:t>
            </a:r>
            <a:endParaRPr lang="en-US" sz="3600" dirty="0"/>
          </a:p>
        </p:txBody>
      </p:sp>
      <p:sp>
        <p:nvSpPr>
          <p:cNvPr id="25" name="Text 18"/>
          <p:cNvSpPr txBox="1"/>
          <p:nvPr/>
        </p:nvSpPr>
        <p:spPr>
          <a:xfrm>
            <a:off x="8135417" y="4155948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자산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400239" y="5764378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 txBox="1"/>
          <p:nvPr/>
        </p:nvSpPr>
        <p:spPr>
          <a:xfrm>
            <a:off x="7590434" y="5713171"/>
            <a:ext cx="1320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(실물자산)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946490" y="5764378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9136685" y="5713171"/>
            <a:ext cx="609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금융자산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9955073" y="5764378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10145268" y="5713171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015277" y="6120994"/>
            <a:ext cx="37901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출처: 2023 가계금융복지조사 (통계청/금융감독원/한국은행)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BBF24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3867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PROBLEM 01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294876" y="651053"/>
            <a:ext cx="257495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 핵심 문제 &gt; 구조적 변화와 한계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343254"/>
            <a:ext cx="496062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 구조의 변화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관리의 패러다임이 바뀌다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148856"/>
            <a:ext cx="49341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전통적인 전세 중심 시장에서 월세 중심으로 전환되며</a:t>
            </a:r>
            <a:endParaRPr lang="en-US" sz="13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임대인의 관리 부담이 구조적으로 증가하고 있습니다. 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2799895"/>
            <a:ext cx="4858207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2799895"/>
            <a:ext cx="47549" cy="1828800"/>
          </a:xfrm>
          <a:prstGeom prst="roundRect">
            <a:avLst>
              <a:gd name="adj" fmla="val 320511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047902" y="3038553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185977" y="3161997"/>
            <a:ext cx="200254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66951" y="3116277"/>
            <a:ext cx="21049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전세의 월세화 가속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3657602"/>
            <a:ext cx="4410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2년 단위의 단순 전세 계약이 감소하고, 월 단위 관리가 필요한 월세 계약 비중이 급증했습니다. 이는 </a:t>
            </a: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이벤트(수금, 민원)의 빈도를 10배 이상 증가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시킵니다. 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145345"/>
            <a:ext cx="4858207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61695" y="5145345"/>
            <a:ext cx="47549" cy="1828800"/>
          </a:xfrm>
          <a:prstGeom prst="roundRect">
            <a:avLst>
              <a:gd name="adj" fmla="val 32051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47902" y="510326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1157630" y="5226712"/>
            <a:ext cx="256946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66951" y="5180992"/>
            <a:ext cx="18763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원격 임대인 급증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47902" y="5722317"/>
            <a:ext cx="4410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갭투자 증가로 인해 거주지와 보유 물건지가 다른 원격 소유주가 늘어났습니다. 물리적 거리로 인해 </a:t>
            </a:r>
            <a:r>
              <a:rPr lang="en-US" sz="12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직접적인 현장 관리와 대응이 불가능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상황입니다. 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61695" y="7322515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761695" y="7427671"/>
            <a:ext cx="4222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Source: Ministry of Land, Infrastructure and Transport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279331" y="7427671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5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01207" y="1343254"/>
            <a:ext cx="5429707" cy="5982005"/>
          </a:xfrm>
          <a:prstGeom prst="roundRect">
            <a:avLst>
              <a:gd name="adj" fmla="val 118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581851" y="2027225"/>
            <a:ext cx="183520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Monthly Rent Trend 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0" y="2058314"/>
            <a:ext cx="171907" cy="171907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8" r="-8"/>
          <a:stretch/>
        </p:blipFill>
        <p:spPr>
          <a:xfrm>
            <a:off x="6286500" y="2422246"/>
            <a:ext cx="4858207" cy="238109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286500" y="4993538"/>
            <a:ext cx="4858207" cy="1647749"/>
          </a:xfrm>
          <a:prstGeom prst="roundRect">
            <a:avLst>
              <a:gd name="adj" fmla="val 76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107" r="-107"/>
          <a:stretch/>
        </p:blipFill>
        <p:spPr>
          <a:xfrm>
            <a:off x="6728155" y="5184648"/>
            <a:ext cx="267005" cy="3044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364224" y="5565038"/>
            <a:ext cx="99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 (서울)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7389266" y="5468112"/>
            <a:ext cx="2657246" cy="19202"/>
          </a:xfrm>
          <a:prstGeom prst="rect">
            <a:avLst/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8208569" y="5230368"/>
            <a:ext cx="1019556" cy="209398"/>
          </a:xfrm>
          <a:prstGeom prst="roundRect">
            <a:avLst>
              <a:gd name="adj" fmla="val 15879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8449970" y="5230368"/>
            <a:ext cx="859536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원격 관리 불가 </a:t>
            </a:r>
            <a:endParaRPr lang="en-US" sz="9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1911" r="-1911"/>
          <a:stretch/>
        </p:blipFill>
        <p:spPr>
          <a:xfrm>
            <a:off x="8285378" y="5282489"/>
            <a:ext cx="133502" cy="114300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10454335" y="5184648"/>
            <a:ext cx="228600" cy="30449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0071202" y="5565038"/>
            <a:ext cx="99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 (부산)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476695" y="5914339"/>
            <a:ext cx="4476902" cy="533095"/>
          </a:xfrm>
          <a:prstGeom prst="roundRect">
            <a:avLst>
              <a:gd name="adj" fmla="val 4900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7465162" y="6066130"/>
            <a:ext cx="3526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 사각지대 발생 → 자산 가치 하락 위험 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270394" y="6113678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476402" y="3524098"/>
            <a:ext cx="2857500" cy="2857500"/>
          </a:xfrm>
          <a:prstGeom prst="ellipse">
            <a:avLst/>
          </a:prstGeom>
          <a:solidFill>
            <a:srgbClr val="60A5F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39438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PROBLEM 02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57716" y="651053"/>
            <a:ext cx="271759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 핵심 문제 &gt; 관리 스트레스와 분쟁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343254"/>
            <a:ext cx="496062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갈등의 심화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없는 분쟁과 비용 낭비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499055"/>
            <a:ext cx="49341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시설물 노후화로 인한 관리는 필연적이나, 객관적 기준 부재로 임대인과 임차인 모두 고통받고 있습니다.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3158115"/>
            <a:ext cx="4858207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3158115"/>
            <a:ext cx="47549" cy="1828800"/>
          </a:xfrm>
          <a:prstGeom prst="roundRect">
            <a:avLst>
              <a:gd name="adj" fmla="val 32051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047902" y="3396773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157630" y="3520217"/>
            <a:ext cx="256946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66951" y="3474497"/>
            <a:ext cx="269930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시설 노후화와 잦은 민원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4015822"/>
            <a:ext cx="4410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누수, 보일러 고장 등 긴급 시설 민원이 발생하면 원격 임대인은 즉각 대응이 어렵습니다. 이는 </a:t>
            </a: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세입자의 불만 누적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임대인의 심리적 스트레스로 직결됩니다. 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50265" y="5072868"/>
            <a:ext cx="4858207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61695" y="5222830"/>
            <a:ext cx="47549" cy="1828800"/>
          </a:xfrm>
          <a:prstGeom prst="roundRect">
            <a:avLst>
              <a:gd name="adj" fmla="val 32051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47902" y="546148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1200607" y="5584932"/>
            <a:ext cx="171907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66951" y="5539212"/>
            <a:ext cx="269930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정보 비대칭과 비용 과다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47902" y="6080537"/>
            <a:ext cx="4410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 수선비 기준이 없어 업체별 견적 편차가 심합니다. 비전문가인 임대인은 </a:t>
            </a: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과다 비용을 지출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하거나 부실 시공의 위험에 노출되어 있습니다. 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61695" y="7322515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761695" y="7427671"/>
            <a:ext cx="33211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Source: HDB &amp; Legal Precedents Analysis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279331" y="7427671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6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01207" y="1343254"/>
            <a:ext cx="5429707" cy="5982005"/>
          </a:xfrm>
          <a:prstGeom prst="roundRect">
            <a:avLst>
              <a:gd name="adj" fmla="val 118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600139" y="1628546"/>
            <a:ext cx="14045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임대차 분쟁 유형 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286500" y="1658722"/>
            <a:ext cx="190195" cy="171907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6286500" y="1975104"/>
            <a:ext cx="4858207" cy="20958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028993" y="4577486"/>
            <a:ext cx="3806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분쟁의 악순환 고리 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86677" y="4625035"/>
            <a:ext cx="152705" cy="15270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786677" y="4948733"/>
            <a:ext cx="3857854" cy="1324051"/>
          </a:xfrm>
          <a:prstGeom prst="roundRect">
            <a:avLst>
              <a:gd name="adj" fmla="val 1192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6786677" y="6409944"/>
            <a:ext cx="3857854" cy="457200"/>
          </a:xfrm>
          <a:prstGeom prst="roundRect">
            <a:avLst>
              <a:gd name="adj" fmla="val 6666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7"/>
          <p:cNvSpPr txBox="1"/>
          <p:nvPr/>
        </p:nvSpPr>
        <p:spPr>
          <a:xfrm>
            <a:off x="6494069" y="6534302"/>
            <a:ext cx="44430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"수선비 부담 비율에 대한 명확한 가이드라인 부재가 핵심 원인"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401" b="-401"/>
          <a:stretch/>
        </p:blipFill>
        <p:spPr>
          <a:xfrm>
            <a:off x="7263079" y="5377586"/>
            <a:ext cx="2905049" cy="1920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7119518" y="5139842"/>
            <a:ext cx="476402" cy="476402"/>
          </a:xfrm>
          <a:prstGeom prst="ellipse">
            <a:avLst/>
          </a:prstGeom>
          <a:solidFill>
            <a:srgbClr val="374151"/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267651" y="5287061"/>
            <a:ext cx="181051" cy="181051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88429" y="5711342"/>
            <a:ext cx="543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파손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8024774" y="5139842"/>
            <a:ext cx="476402" cy="476402"/>
          </a:xfrm>
          <a:prstGeom prst="ellipse">
            <a:avLst/>
          </a:prstGeom>
          <a:solidFill>
            <a:srgbClr val="374151"/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8148218" y="5287061"/>
            <a:ext cx="228600" cy="181051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992770" y="5711342"/>
            <a:ext cx="543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불분명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8930030" y="5139842"/>
            <a:ext cx="476402" cy="476402"/>
          </a:xfrm>
          <a:prstGeom prst="ellipse">
            <a:avLst/>
          </a:prstGeom>
          <a:solidFill>
            <a:srgbClr val="EF4444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077249" y="5287061"/>
            <a:ext cx="181051" cy="181051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898026" y="5711342"/>
            <a:ext cx="543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부재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9834372" y="5139842"/>
            <a:ext cx="476402" cy="476402"/>
          </a:xfrm>
          <a:prstGeom prst="ellipse">
            <a:avLst/>
          </a:prstGeom>
          <a:solidFill>
            <a:srgbClr val="374151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1082" r="-1082"/>
          <a:stretch/>
        </p:blipFill>
        <p:spPr>
          <a:xfrm>
            <a:off x="9991649" y="5287061"/>
            <a:ext cx="161849" cy="181051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795967" y="5711342"/>
            <a:ext cx="5623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감정/법적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폭발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BBF24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39438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PROBLEM 03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57716" y="651053"/>
            <a:ext cx="271759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 핵심 문제 &gt; 프롭테크 시장의 한계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343254"/>
            <a:ext cx="496062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프롭테크의 사후관리 공백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계약은 끝이 아닌 시작입니다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158583"/>
            <a:ext cx="49341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프롭테크 시장은 매물 탐색과 계약에만 집중되어 있어,</a:t>
            </a:r>
            <a:endParaRPr lang="en-US" sz="13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거주 기간 동안 발생하는 자산 관리 수요를 외면하고 있습니다. 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2668144"/>
            <a:ext cx="4858207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2668144"/>
            <a:ext cx="47549" cy="1828800"/>
          </a:xfrm>
          <a:prstGeom prst="roundRect">
            <a:avLst>
              <a:gd name="adj" fmla="val 320511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047902" y="2906802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157630" y="3030246"/>
            <a:ext cx="256946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66951" y="2984526"/>
            <a:ext cx="32598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중개 수수료 중심의 수익 모델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3525851"/>
            <a:ext cx="4410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대부분의 플랫폼이 매물 광고와 일회성 중개 수수료에 의존합니다. 계약 체결 이후 </a:t>
            </a: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 이상의 임대 기간 동안 필요한 관리 도구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전무한 실정입니다. 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125888"/>
            <a:ext cx="4858207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61695" y="4853508"/>
            <a:ext cx="47549" cy="1828800"/>
          </a:xfrm>
          <a:prstGeom prst="roundRect">
            <a:avLst>
              <a:gd name="adj" fmla="val 32051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047902" y="4971517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185977" y="5094961"/>
            <a:ext cx="200254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66951" y="5049241"/>
            <a:ext cx="3048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자산 가치 증명 데이터 부재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47902" y="5590566"/>
            <a:ext cx="44101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수리 이력이나 시설 점검 기록이 데이터화되지 않고 휘발됩니다. 이로 인해 매매 시 </a:t>
            </a:r>
            <a:r>
              <a:rPr lang="en-US" sz="12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자산의 관리 상태를 객관적으로 증명(House Log)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없습니다. 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61695" y="7322515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761695" y="7398487"/>
            <a:ext cx="2211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Proptech Market Analysis 2026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279331" y="7427671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7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01207" y="1343254"/>
            <a:ext cx="5429707" cy="5982005"/>
          </a:xfrm>
          <a:prstGeom prst="roundRect">
            <a:avLst>
              <a:gd name="adj" fmla="val 118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409944" y="2027225"/>
            <a:ext cx="30028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Proptech Service Gap Analysis 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6286500" y="2422246"/>
            <a:ext cx="4858207" cy="28575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286500" y="5469941"/>
            <a:ext cx="4858207" cy="1171346"/>
          </a:xfrm>
          <a:prstGeom prst="roundRect">
            <a:avLst>
              <a:gd name="adj" fmla="val 152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476695" y="5660136"/>
            <a:ext cx="4476902" cy="790956"/>
          </a:xfrm>
          <a:prstGeom prst="roundRect">
            <a:avLst>
              <a:gd name="adj" fmla="val 22286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7632497" y="5812841"/>
            <a:ext cx="3283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Service Disconnect: "관리의 단절" </a:t>
            </a:r>
            <a:endParaRPr lang="en-US" sz="1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7399325" y="5860390"/>
            <a:ext cx="190195" cy="152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559906" y="6088990"/>
            <a:ext cx="4312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계약(Contract) 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</a:t>
            </a:r>
            <a:r>
              <a:rPr lang="en-US" sz="10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[Vacuum]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</a:t>
            </a:r>
            <a:r>
              <a:rPr lang="en-US" sz="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재계약(Renewal) 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 l="17409" r="17409"/>
          <a:stretch/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6598" y="1010412"/>
            <a:ext cx="108585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666598" y="476402"/>
            <a:ext cx="3934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3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PROPOSAL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9476842" y="605333"/>
            <a:ext cx="24487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04. 솔루션 &gt; 버틀러(Butler) 소개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75995" y="1681582"/>
            <a:ext cx="4058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2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WHAT IS BUTLER? 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66598" y="1681582"/>
            <a:ext cx="2412187" cy="9144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7078" r="-7078"/>
          <a:stretch/>
        </p:blipFill>
        <p:spPr>
          <a:xfrm>
            <a:off x="666598" y="1712671"/>
            <a:ext cx="114300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6598" y="2018995"/>
            <a:ext cx="4267505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데이터로 기록하는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투명한 임대차 관리 </a:t>
            </a:r>
            <a:r>
              <a:rPr lang="en-US" sz="28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 (Butler)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666598" y="3350362"/>
            <a:ext cx="43434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4" name="Shape 9"/>
          <p:cNvSpPr/>
          <p:nvPr/>
        </p:nvSpPr>
        <p:spPr>
          <a:xfrm>
            <a:off x="666598" y="4016045"/>
            <a:ext cx="19202" cy="733349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828446" y="4016045"/>
            <a:ext cx="4067251" cy="7342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버틀러는 공공데이터와 AI OCR 기술을 결합하여, 단순 중개를 넘어 </a:t>
            </a: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관리의 전 과정</a:t>
            </a: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디지털화한 All-in-One 아파트 자산관리 모바일 플랫폼입니다. 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66598" y="5033772"/>
            <a:ext cx="1019556" cy="333756"/>
          </a:xfrm>
          <a:prstGeom prst="roundRect">
            <a:avLst>
              <a:gd name="adj" fmla="val 2739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959206" y="5033772"/>
            <a:ext cx="78455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Big Data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775765" y="5033772"/>
            <a:ext cx="961949" cy="333756"/>
          </a:xfrm>
          <a:prstGeom prst="roundRect">
            <a:avLst>
              <a:gd name="adj" fmla="val 2739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2115922" y="5033772"/>
            <a:ext cx="679399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 OCR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825496" y="5033772"/>
            <a:ext cx="1143000" cy="333756"/>
          </a:xfrm>
          <a:prstGeom prst="roundRect">
            <a:avLst>
              <a:gd name="adj" fmla="val 2739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3165653" y="5033772"/>
            <a:ext cx="86045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Cloud API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66598" y="5456225"/>
            <a:ext cx="1181405" cy="333756"/>
          </a:xfrm>
          <a:prstGeom prst="roundRect">
            <a:avLst>
              <a:gd name="adj" fmla="val 2739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940003" y="5456225"/>
            <a:ext cx="965606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Mobile App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533949" y="1297534"/>
            <a:ext cx="6106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2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CONCEPT 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296205" y="1297534"/>
            <a:ext cx="4793285" cy="9144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5296205" y="1327709"/>
            <a:ext cx="142646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53151" y="3476549"/>
            <a:ext cx="6087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2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CORE VALUES 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296205" y="3476549"/>
            <a:ext cx="4776826" cy="9144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3882" r="-3882"/>
          <a:stretch/>
        </p:blipFill>
        <p:spPr>
          <a:xfrm>
            <a:off x="5296205" y="3507638"/>
            <a:ext cx="161849" cy="13350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296205" y="4004158"/>
            <a:ext cx="1981505" cy="2171700"/>
          </a:xfrm>
          <a:prstGeom prst="roundRect">
            <a:avLst>
              <a:gd name="adj" fmla="val 532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5296205" y="4004158"/>
            <a:ext cx="1981505" cy="28346"/>
          </a:xfrm>
          <a:prstGeom prst="roundRect">
            <a:avLst>
              <a:gd name="adj" fmla="val 372214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5486400" y="4709160"/>
            <a:ext cx="166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갈등 해결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0" y="5201107"/>
            <a:ext cx="166420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대법원 판례와 감가상각 기준을 학습한 '수선비 계산기'로 임대인-임차인 간 소모적 분쟁 방지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420356" y="4004158"/>
            <a:ext cx="1981505" cy="2171700"/>
          </a:xfrm>
          <a:prstGeom prst="roundRect">
            <a:avLst>
              <a:gd name="adj" fmla="val 532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7420356" y="4004158"/>
            <a:ext cx="1981505" cy="28346"/>
          </a:xfrm>
          <a:prstGeom prst="roundRect">
            <a:avLst>
              <a:gd name="adj" fmla="val 372214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7610551" y="4709160"/>
            <a:ext cx="166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비대면 자산관리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구축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610551" y="5201107"/>
            <a:ext cx="166420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점검부터 리포트 발행, 업체 매칭까지 원격 임대인을 위한 완벽한 관리 대행 시스템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9544507" y="4004158"/>
            <a:ext cx="1981505" cy="2171700"/>
          </a:xfrm>
          <a:prstGeom prst="roundRect">
            <a:avLst>
              <a:gd name="adj" fmla="val 532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9544507" y="4004158"/>
            <a:ext cx="1981505" cy="28346"/>
          </a:xfrm>
          <a:prstGeom prst="roundRect">
            <a:avLst>
              <a:gd name="adj" fmla="val 372214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9734702" y="4709160"/>
            <a:ext cx="166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중개업 모델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 전환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734702" y="5201107"/>
            <a:ext cx="166420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중개 수수료 시장에서 데이터 기반 상시 관리 구독 모델(SaaS)로 프롭테크 시장 혁신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374429" y="6263640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8</a:t>
            </a:r>
            <a:endParaRPr lang="en-US" sz="10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09244" y="5126126"/>
            <a:ext cx="114300" cy="133502"/>
          </a:xfrm>
          <a:prstGeom prst="rect">
            <a:avLst/>
          </a:prstGeom>
        </p:spPr>
      </p:pic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t="-1554" b="-1554"/>
          <a:stretch/>
        </p:blipFill>
        <p:spPr>
          <a:xfrm>
            <a:off x="1918411" y="5126126"/>
            <a:ext cx="161849" cy="133502"/>
          </a:xfrm>
          <a:prstGeom prst="rect">
            <a:avLst/>
          </a:prstGeom>
        </p:spPr>
      </p:pic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t="-1554" b="-1554"/>
          <a:stretch/>
        </p:blipFill>
        <p:spPr>
          <a:xfrm>
            <a:off x="2968142" y="5126126"/>
            <a:ext cx="161849" cy="133502"/>
          </a:xfrm>
          <a:prstGeom prst="rect">
            <a:avLst/>
          </a:prstGeom>
        </p:spPr>
      </p:pic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t="-2644" b="-2644"/>
          <a:stretch/>
        </p:blipFill>
        <p:spPr>
          <a:xfrm>
            <a:off x="809244" y="5548579"/>
            <a:ext cx="95098" cy="133502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5486400" y="4290365"/>
            <a:ext cx="286207" cy="228600"/>
          </a:xfrm>
          <a:prstGeom prst="rect">
            <a:avLst/>
          </a:prstGeom>
        </p:spPr>
      </p:pic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7610551" y="4290365"/>
            <a:ext cx="256946" cy="228600"/>
          </a:xfrm>
          <a:prstGeom prst="rect">
            <a:avLst/>
          </a:prstGeom>
        </p:spPr>
      </p:pic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734702" y="4290365"/>
            <a:ext cx="228600" cy="228600"/>
          </a:xfrm>
          <a:prstGeom prst="rect">
            <a:avLst/>
          </a:prstGeom>
        </p:spPr>
      </p:pic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5"/>
          <a:srcRect t="-3" b="-3"/>
          <a:stretch/>
        </p:blipFill>
        <p:spPr>
          <a:xfrm>
            <a:off x="5296205" y="1825142"/>
            <a:ext cx="6229807" cy="1366114"/>
          </a:xfrm>
          <a:prstGeom prst="rect">
            <a:avLst/>
          </a:prstGeom>
        </p:spPr>
      </p:pic>
      <p:sp>
        <p:nvSpPr>
          <p:cNvPr id="51" name="Shape 36"/>
          <p:cNvSpPr/>
          <p:nvPr/>
        </p:nvSpPr>
        <p:spPr>
          <a:xfrm>
            <a:off x="5544007" y="2126894"/>
            <a:ext cx="761695" cy="761695"/>
          </a:xfrm>
          <a:prstGeom prst="roundRect">
            <a:avLst>
              <a:gd name="adj" fmla="val 3601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753405" y="2279599"/>
            <a:ext cx="342900" cy="45720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6543446" y="2072945"/>
            <a:ext cx="3791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Log </a:t>
            </a: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하우스 로그</a:t>
            </a:r>
            <a:endParaRPr lang="en-US" sz="1900" dirty="0"/>
          </a:p>
        </p:txBody>
      </p:sp>
      <p:sp>
        <p:nvSpPr>
          <p:cNvPr id="54" name="Text 38"/>
          <p:cNvSpPr txBox="1"/>
          <p:nvPr/>
        </p:nvSpPr>
        <p:spPr>
          <a:xfrm>
            <a:off x="6543446" y="2486254"/>
            <a:ext cx="3753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주택의 전 생애주기(수리·점검·계약)를 데이터로 기록하여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자산의 가치를 증명하고 분쟁을 예방하는 디지털 원장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solidFill>
            <a:srgbClr val="FBBF24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VALUE PROPOSITION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784994" y="651053"/>
            <a:ext cx="19431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04. 솔루션 &gt; 3대 핵심 가치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중개를 넘어,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 자산 관리 표준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제시합니다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2190902" y="1849831"/>
            <a:ext cx="7810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버틀러는 파편화된 임대차 시장의 문제를 해결하기 위해 다음 3가지 핵심 가치를 제공합니다.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6534302"/>
            <a:ext cx="10668305" cy="514807"/>
          </a:xfrm>
          <a:prstGeom prst="roundRect">
            <a:avLst>
              <a:gd name="adj" fmla="val 657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9244" y="6477338"/>
            <a:ext cx="10573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"투명한 임대차 문화 조성과 부동산 자산 가치의 극대화"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695" y="6848585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7154266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695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395" b="-395"/>
          <a:stretch/>
        </p:blipFill>
        <p:spPr>
          <a:xfrm>
            <a:off x="771754" y="2491740"/>
            <a:ext cx="3346704" cy="384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63801" y="2777947"/>
            <a:ext cx="761695" cy="761695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2206447" y="2968142"/>
            <a:ext cx="476402" cy="3813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11580" y="3777386"/>
            <a:ext cx="247070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데이터 기반 갈등 해결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19556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감정적인 분쟁을 데이터와 법적 기준을 통해 공정하고 투명하게 해결합니다.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57046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091379"/>
            <a:ext cx="95098" cy="1051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5046574"/>
            <a:ext cx="16934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대법원 판례 학습 AI 모델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362042"/>
            <a:ext cx="95098" cy="1051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5317236"/>
            <a:ext cx="20638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감가상각 기반 수선비 자동 계산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632704"/>
            <a:ext cx="95098" cy="1051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52144" y="5587898"/>
            <a:ext cx="1837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분담 비율(Rate) 제시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412894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395" b="-395"/>
          <a:stretch/>
        </p:blipFill>
        <p:spPr>
          <a:xfrm>
            <a:off x="4422953" y="2491740"/>
            <a:ext cx="3346704" cy="3840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715000" y="2777947"/>
            <a:ext cx="761695" cy="76169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5881421" y="2968142"/>
            <a:ext cx="428854" cy="3813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817059" y="3777386"/>
            <a:ext cx="25621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비대면 자산관리 인프라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4670755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거리에 제약받지 않는 완벽한 원격 관리 시스템을 제공합니다.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708246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091379"/>
            <a:ext cx="95098" cy="10515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803343" y="5046574"/>
            <a:ext cx="20107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앱 기반 현장 점검 대행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362042"/>
            <a:ext cx="95098" cy="105156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803343" y="5317236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리포트 자동 발행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632704"/>
            <a:ext cx="95098" cy="10515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803343" y="5587898"/>
            <a:ext cx="14474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보수 업체 매칭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8064094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 t="-398" b="-398"/>
          <a:stretch/>
        </p:blipFill>
        <p:spPr>
          <a:xfrm>
            <a:off x="8074152" y="2491740"/>
            <a:ext cx="3346704" cy="38405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366199" y="2777947"/>
            <a:ext cx="761695" cy="761695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56394" y="2968142"/>
            <a:ext cx="381305" cy="38130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584387" y="3777386"/>
            <a:ext cx="23335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비즈니스 모델의 전환</a:t>
            </a:r>
            <a:endParaRPr lang="en-US" sz="1600" dirty="0"/>
          </a:p>
        </p:txBody>
      </p:sp>
      <p:sp>
        <p:nvSpPr>
          <p:cNvPr id="47" name="Text 32"/>
          <p:cNvSpPr txBox="1"/>
          <p:nvPr/>
        </p:nvSpPr>
        <p:spPr>
          <a:xfrm>
            <a:off x="8321954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거래에서 지속 가능한 구독형 관리 서비스로 시장을 혁신합니다.</a:t>
            </a:r>
            <a:endParaRPr lang="en-US" sz="1100" dirty="0"/>
          </a:p>
        </p:txBody>
      </p:sp>
      <p:sp>
        <p:nvSpPr>
          <p:cNvPr id="48" name="Shape 33"/>
          <p:cNvSpPr/>
          <p:nvPr/>
        </p:nvSpPr>
        <p:spPr>
          <a:xfrm>
            <a:off x="8359445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091379"/>
            <a:ext cx="95098" cy="10515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454542" y="5046574"/>
            <a:ext cx="23024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단발성 중개료 → 구독형 수익(SaaS)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362042"/>
            <a:ext cx="95098" cy="105156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454542" y="5317236"/>
            <a:ext cx="16587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House Log 데이터 자산화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632704"/>
            <a:ext cx="95098" cy="105156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454542" y="5587898"/>
            <a:ext cx="16349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관리의 프롭테크화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solidFill>
            <a:srgbClr val="FBBF24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7049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FEATURE: ASSET DASHBOARD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088222" y="651053"/>
            <a:ext cx="2788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05. 주요 기능 &gt; 01. 자산 현황 대시보드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아파트의 가치와 상태를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공공데이터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확인하세요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2128723" y="1849831"/>
            <a:ext cx="79360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국토교통부, 건축물대장, K-APT API를 연동하여 흩어진 자산 정보를 통합하고 가치를 분석합니다.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6766560"/>
            <a:ext cx="10668305" cy="514807"/>
          </a:xfrm>
          <a:prstGeom prst="roundRect">
            <a:avLst>
              <a:gd name="adj" fmla="val 657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9244" y="6548261"/>
            <a:ext cx="10573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"데이터로 증명되는 투명한 자산 가치, 버틀러 대시보드에서 시작됩니다."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695" y="7280453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7385609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695" y="2482596"/>
            <a:ext cx="3372307" cy="39054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395" b="-395"/>
          <a:stretch/>
        </p:blipFill>
        <p:spPr>
          <a:xfrm>
            <a:off x="771754" y="2491740"/>
            <a:ext cx="3346704" cy="384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63801" y="2777947"/>
            <a:ext cx="761695" cy="761695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53996" y="2968142"/>
            <a:ext cx="381305" cy="3813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95451" y="3777386"/>
            <a:ext cx="269930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실시간 자산 가치 트래킹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19556" y="4240987"/>
            <a:ext cx="28575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국토부 실거래가 API와 연동하여 내 아파트의 최신 시세와 실거래 내역을 실시간으로 제공합니다.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57046" y="5126126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322722"/>
            <a:ext cx="95098" cy="1051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5277917"/>
            <a:ext cx="1982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실거래가 데이터 자동 업데이트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593385"/>
            <a:ext cx="95098" cy="1051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5548579"/>
            <a:ext cx="1662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단지 시세 비교 분석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864047"/>
            <a:ext cx="95098" cy="1051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52144" y="5819242"/>
            <a:ext cx="18708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시세 등락폭 알림(Push) 제공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412894" y="2482596"/>
            <a:ext cx="3372307" cy="39054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395" b="-395"/>
          <a:stretch/>
        </p:blipFill>
        <p:spPr>
          <a:xfrm>
            <a:off x="4422953" y="2491740"/>
            <a:ext cx="3346704" cy="3840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715000" y="2777947"/>
            <a:ext cx="761695" cy="76169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t="-24" b="-24"/>
          <a:stretch/>
        </p:blipFill>
        <p:spPr>
          <a:xfrm>
            <a:off x="5857646" y="2968142"/>
            <a:ext cx="476402" cy="3813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860036" y="3777386"/>
            <a:ext cx="24725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단지/건물 정보 자동화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4670755" y="4240987"/>
            <a:ext cx="28575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 및 K-APT 데이터를 통해 단지의 상세 스펙과 관리 정보를 자동으로 수집하고 시각화합니다.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708246" y="5126126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322722"/>
            <a:ext cx="95098" cy="10515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803343" y="5277917"/>
            <a:ext cx="23079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준공연차 / 세대수 / 주차대수 정보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593385"/>
            <a:ext cx="95098" cy="105156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803343" y="5548579"/>
            <a:ext cx="14474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관리비 부과 내역 비교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864047"/>
            <a:ext cx="95098" cy="10515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803343" y="5819242"/>
            <a:ext cx="16349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장기수선충당금 적립 현황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8064094" y="2482596"/>
            <a:ext cx="3372307" cy="39054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 t="-398" b="-398"/>
          <a:stretch/>
        </p:blipFill>
        <p:spPr>
          <a:xfrm>
            <a:off x="8074152" y="2491740"/>
            <a:ext cx="3346704" cy="38405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366199" y="2777947"/>
            <a:ext cx="761695" cy="761695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56394" y="2968142"/>
            <a:ext cx="381305" cy="38130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545982" y="3777386"/>
            <a:ext cx="241127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AMI (자산 관리 지수)</a:t>
            </a:r>
            <a:endParaRPr lang="en-US" sz="1600" dirty="0"/>
          </a:p>
        </p:txBody>
      </p:sp>
      <p:sp>
        <p:nvSpPr>
          <p:cNvPr id="47" name="Text 32"/>
          <p:cNvSpPr txBox="1"/>
          <p:nvPr/>
        </p:nvSpPr>
        <p:spPr>
          <a:xfrm>
            <a:off x="8321954" y="4240987"/>
            <a:ext cx="28575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버틀러만의 독자적인 알고리즘으로 노후도, 관리 상태, 브랜드 가치를 종합 분석하여 점수(Score)로 제공합니다.</a:t>
            </a:r>
            <a:endParaRPr lang="en-US" sz="1100" dirty="0"/>
          </a:p>
        </p:txBody>
      </p:sp>
      <p:sp>
        <p:nvSpPr>
          <p:cNvPr id="48" name="Shape 33"/>
          <p:cNvSpPr/>
          <p:nvPr/>
        </p:nvSpPr>
        <p:spPr>
          <a:xfrm>
            <a:off x="8359445" y="5126126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322722"/>
            <a:ext cx="95098" cy="10515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454542" y="5277917"/>
            <a:ext cx="23920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관리 상태 점수화 (Asset Score)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593385"/>
            <a:ext cx="95098" cy="105156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454542" y="5548579"/>
            <a:ext cx="18763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수선 및 관리 필요 시점 예측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864047"/>
            <a:ext cx="95098" cy="105156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454542" y="5819242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상승 잠재력 분석 리포트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-952805" y="-1429207"/>
            <a:ext cx="5715000" cy="57150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905902" y="3047695"/>
            <a:ext cx="4762195" cy="4762195"/>
          </a:xfrm>
          <a:prstGeom prst="ellipse">
            <a:avLst/>
          </a:prstGeom>
          <a:solidFill>
            <a:srgbClr val="3B82F6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4" y="476402"/>
            <a:ext cx="872277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kern="0" spc="-6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FEATURE: RENTAL CRM &amp; ALERT SYSTEM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377172" y="651053"/>
            <a:ext cx="23372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05. 주요 기능 &gt; 임대차 특화 CRM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관리의 </a:t>
            </a:r>
            <a:r>
              <a:rPr lang="en-US" sz="21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골든타임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놓치지 않는 스마트 알림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2190902" y="1849831"/>
            <a:ext cx="7810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임대차 일정과 이슈를 버틀러의 자동화된 CRM 시스템으로 빈틈없이 관리합니다.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6349819"/>
            <a:ext cx="10668305" cy="514807"/>
          </a:xfrm>
          <a:prstGeom prst="roundRect">
            <a:avLst>
              <a:gd name="adj" fmla="val 657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9244" y="6493380"/>
            <a:ext cx="10573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"단순 관리를 넘어 임대인의 시간과 노력을 획기적으로 절약하는 자동화 시스템"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695" y="6864627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7154266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695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395" b="-395"/>
          <a:stretch/>
        </p:blipFill>
        <p:spPr>
          <a:xfrm>
            <a:off x="771754" y="2491740"/>
            <a:ext cx="3346704" cy="384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63801" y="2777947"/>
            <a:ext cx="761695" cy="761695"/>
          </a:xfrm>
          <a:prstGeom prst="ellipse">
            <a:avLst/>
          </a:prstGeom>
          <a:solidFill>
            <a:srgbClr val="F8717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2277770" y="2968142"/>
            <a:ext cx="333756" cy="3813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9674" y="3777386"/>
            <a:ext cx="18763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스마트 자동 알림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19556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놓치기 쉬운 주요 임대차 이벤트를 적시에 자동으로 알려주어 리스크를 예방합니다.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57046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091379"/>
            <a:ext cx="95098" cy="1051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5046574"/>
            <a:ext cx="22558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및 갱신 시점 D-Day 알림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362042"/>
            <a:ext cx="95098" cy="1051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5317236"/>
            <a:ext cx="18763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월세 미납 자동 감지 및 통보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632704"/>
            <a:ext cx="95098" cy="1051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52144" y="5587898"/>
            <a:ext cx="20107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수선 요청 접수 즉시 푸시 알림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412894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395" b="-395"/>
          <a:stretch/>
        </p:blipFill>
        <p:spPr>
          <a:xfrm>
            <a:off x="4422953" y="2491740"/>
            <a:ext cx="3346704" cy="3840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715000" y="2777947"/>
            <a:ext cx="761695" cy="761695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05195" y="2968142"/>
            <a:ext cx="381305" cy="3813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277002" y="3777386"/>
            <a:ext cx="16477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이슈 협업 보드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4670755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임대인, 임차인, 관리자가 하나의 채널에서 소통하며 문제를 투명하게 해결합니다.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708246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091379"/>
            <a:ext cx="95098" cy="10515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803343" y="5046574"/>
            <a:ext cx="2065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수선/민원 처리 진행상황 시각화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362042"/>
            <a:ext cx="95098" cy="105156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803343" y="5317236"/>
            <a:ext cx="1662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사진 및 견적서 공유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632704"/>
            <a:ext cx="95098" cy="10515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803343" y="5587898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대응 이력 영구 아카이빙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8064094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 t="-398" b="-398"/>
          <a:stretch/>
        </p:blipFill>
        <p:spPr>
          <a:xfrm>
            <a:off x="8074152" y="2491740"/>
            <a:ext cx="3346704" cy="38405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366199" y="2777947"/>
            <a:ext cx="761695" cy="761695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1"/>
          <a:srcRect l="-40" r="-40"/>
          <a:stretch/>
        </p:blipFill>
        <p:spPr>
          <a:xfrm>
            <a:off x="9603943" y="2968142"/>
            <a:ext cx="286207" cy="38130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928202" y="3777386"/>
            <a:ext cx="16477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통합 자산 관리</a:t>
            </a:r>
            <a:endParaRPr lang="en-US" sz="1600" dirty="0"/>
          </a:p>
        </p:txBody>
      </p:sp>
      <p:sp>
        <p:nvSpPr>
          <p:cNvPr id="47" name="Text 32"/>
          <p:cNvSpPr txBox="1"/>
          <p:nvPr/>
        </p:nvSpPr>
        <p:spPr>
          <a:xfrm>
            <a:off x="8321954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임대 정보를 통합하여 수익률과 자산 상태를 체계적으로 관리합니다.</a:t>
            </a:r>
            <a:endParaRPr lang="en-US" sz="1100" dirty="0"/>
          </a:p>
        </p:txBody>
      </p:sp>
      <p:sp>
        <p:nvSpPr>
          <p:cNvPr id="48" name="Shape 33"/>
          <p:cNvSpPr/>
          <p:nvPr/>
        </p:nvSpPr>
        <p:spPr>
          <a:xfrm>
            <a:off x="8359445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091379"/>
            <a:ext cx="95098" cy="10515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454542" y="5046574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현황 및 공실률 대시보드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362042"/>
            <a:ext cx="95098" cy="105156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454542" y="5317236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문서 디지털 관리 및 입금 확인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632704"/>
            <a:ext cx="95098" cy="105156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454542" y="5587898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수익률 분석 및 정산 리포트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solidFill>
            <a:srgbClr val="10B981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6477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FEATURE: AI &amp; COMMUNITY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254642" y="651053"/>
            <a:ext cx="25959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05. 주요 기능 &gt; AI 챗봇 및 커뮤니티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임대인을 위한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AI 비서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21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소통 채널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2190902" y="1849831"/>
            <a:ext cx="7810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비대칭을 해소하고, 임대인들이 함께 목소리를 낼 수 있는 소통 공간을 제공합니다.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1695" y="6341798"/>
            <a:ext cx="10668305" cy="514807"/>
          </a:xfrm>
          <a:prstGeom prst="roundRect">
            <a:avLst>
              <a:gd name="adj" fmla="val 657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9244" y="6485359"/>
            <a:ext cx="10573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"정보 격차 해소와 임대인들의 집단지성 활용"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695" y="6856606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7154266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695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395" b="-395"/>
          <a:stretch/>
        </p:blipFill>
        <p:spPr>
          <a:xfrm>
            <a:off x="771754" y="2491740"/>
            <a:ext cx="3346704" cy="384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63801" y="2777947"/>
            <a:ext cx="761695" cy="761695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2206447" y="2968142"/>
            <a:ext cx="476402" cy="3813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72591" y="3777386"/>
            <a:ext cx="275417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임대인 권익보호 AI 챗봇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19556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법률 및 세무 정보를 학습한 AI가 임대인의 궁금증을 해결하고 권익을 보호합니다.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57046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091379"/>
            <a:ext cx="95098" cy="1051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5046574"/>
            <a:ext cx="2065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임대차법/세무 관련 실시간 상담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362042"/>
            <a:ext cx="95098" cy="1051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5317236"/>
            <a:ext cx="2144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사례 기반 대응 가이드 제공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677" r="-1677"/>
          <a:stretch/>
        </p:blipFill>
        <p:spPr>
          <a:xfrm>
            <a:off x="1057046" y="5632704"/>
            <a:ext cx="95098" cy="1051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52144" y="5587898"/>
            <a:ext cx="1303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24/7 AI 응대 시스템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412894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395" b="-395"/>
          <a:stretch/>
        </p:blipFill>
        <p:spPr>
          <a:xfrm>
            <a:off x="4422953" y="2491740"/>
            <a:ext cx="3346704" cy="3840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715000" y="2777947"/>
            <a:ext cx="761695" cy="76169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t="-24" b="-24"/>
          <a:stretch/>
        </p:blipFill>
        <p:spPr>
          <a:xfrm>
            <a:off x="5857646" y="2968142"/>
            <a:ext cx="476402" cy="3813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817059" y="3777386"/>
            <a:ext cx="256214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단지별 임대인 커뮤니티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4670755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단지를 소유한 임대인들과 정보를 공유하고 단지 뉴스를 빠르게 확인할 수 있습니다.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708246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091379"/>
            <a:ext cx="95098" cy="10515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803343" y="5046574"/>
            <a:ext cx="23317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실소유주 인증 기반 폐쇄형 커뮤니티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362042"/>
            <a:ext cx="95098" cy="105156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803343" y="531723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아파트 단지 뉴스 피드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 l="-1677" r="-1677"/>
          <a:stretch/>
        </p:blipFill>
        <p:spPr>
          <a:xfrm>
            <a:off x="4708246" y="5632704"/>
            <a:ext cx="95098" cy="10515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803343" y="5587898"/>
            <a:ext cx="15279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정보 및 시세 공유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8064094" y="2482596"/>
            <a:ext cx="3372307" cy="3676802"/>
          </a:xfrm>
          <a:prstGeom prst="roundRect">
            <a:avLst>
              <a:gd name="adj" fmla="val 30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 t="-398" b="-398"/>
          <a:stretch/>
        </p:blipFill>
        <p:spPr>
          <a:xfrm>
            <a:off x="8074152" y="2491740"/>
            <a:ext cx="3346704" cy="38405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366199" y="2777947"/>
            <a:ext cx="761695" cy="761695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1"/>
          <a:srcRect t="-13" b="-13"/>
          <a:stretch/>
        </p:blipFill>
        <p:spPr>
          <a:xfrm>
            <a:off x="9532620" y="2968142"/>
            <a:ext cx="428854" cy="38130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630107" y="3777386"/>
            <a:ext cx="224210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협의 및 투표 시스템</a:t>
            </a:r>
            <a:endParaRPr lang="en-US" sz="1600" dirty="0"/>
          </a:p>
        </p:txBody>
      </p:sp>
      <p:sp>
        <p:nvSpPr>
          <p:cNvPr id="47" name="Text 32"/>
          <p:cNvSpPr txBox="1"/>
          <p:nvPr/>
        </p:nvSpPr>
        <p:spPr>
          <a:xfrm>
            <a:off x="8321954" y="4240987"/>
            <a:ext cx="2857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의사결정이 필요한 사안에 대해 모바일로 간편하게 논의하고 투표할 수 있습니다.</a:t>
            </a:r>
            <a:endParaRPr lang="en-US" sz="1100" dirty="0"/>
          </a:p>
        </p:txBody>
      </p:sp>
      <p:sp>
        <p:nvSpPr>
          <p:cNvPr id="48" name="Shape 33"/>
          <p:cNvSpPr/>
          <p:nvPr/>
        </p:nvSpPr>
        <p:spPr>
          <a:xfrm>
            <a:off x="8359445" y="4894783"/>
            <a:ext cx="27816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091379"/>
            <a:ext cx="95098" cy="10515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454542" y="504657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기반 전자 투표 기능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362042"/>
            <a:ext cx="95098" cy="105156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454542" y="5317236"/>
            <a:ext cx="1662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게시판 및 댓글 소통 기능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2"/>
          <a:srcRect l="-1677" r="-1677"/>
          <a:stretch/>
        </p:blipFill>
        <p:spPr>
          <a:xfrm>
            <a:off x="8359445" y="5632704"/>
            <a:ext cx="95098" cy="105156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454542" y="5587898"/>
            <a:ext cx="20107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관리단 의결 등 공동 대응 지원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29500" y="-1904695"/>
            <a:ext cx="6667805" cy="6667805"/>
          </a:xfrm>
          <a:prstGeom prst="ellipse">
            <a:avLst/>
          </a:prstGeom>
          <a:solidFill>
            <a:srgbClr val="60A5F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6201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FEATURE: SMART REPORT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9283903" y="651053"/>
            <a:ext cx="25758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05. 주요 기능 &gt; 스마트 점검/리포트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방문 없이도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자산 상태 확인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2190902" y="1849831"/>
            <a:ext cx="7810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버틀러의 모바일 점검 시스템은 현장의 모든 상태를 데이터화하여 자동으로 리포트를 생성합니다.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1695" y="5808574"/>
            <a:ext cx="10668305" cy="886054"/>
          </a:xfrm>
          <a:prstGeom prst="roundRect">
            <a:avLst>
              <a:gd name="adj" fmla="val 2663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842" r="-842"/>
          <a:stretch/>
        </p:blipFill>
        <p:spPr>
          <a:xfrm>
            <a:off x="1057046" y="6068263"/>
            <a:ext cx="276149" cy="3621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76756" y="6008827"/>
            <a:ext cx="29123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ADDED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476756" y="6214567"/>
            <a:ext cx="35240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보증형 검수 리포트 &amp; 작업 로그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32350" y="6177077"/>
            <a:ext cx="142646" cy="14264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51806" y="6140501"/>
            <a:ext cx="21936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시공 전/중/후 사진 100% 기록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5102" y="6177077"/>
            <a:ext cx="142646" cy="14264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204558" y="6140501"/>
            <a:ext cx="22466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업체 시공 품질 검증 자료 활용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89390" y="6177077"/>
            <a:ext cx="142646" cy="14264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508846" y="6140501"/>
            <a:ext cx="2007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추후 매도시 관리 상태 증빙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761695" y="6689141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7174382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13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238098" y="2768194"/>
            <a:ext cx="9715500" cy="1920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238098" y="2768194"/>
            <a:ext cx="8001000" cy="19202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07515" y="2388718"/>
            <a:ext cx="952805" cy="952805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 l="-40" r="-40"/>
          <a:stretch/>
        </p:blipFill>
        <p:spPr>
          <a:xfrm>
            <a:off x="1941271" y="2674925"/>
            <a:ext cx="286207" cy="38130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107338" y="3531718"/>
            <a:ext cx="1962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모바일 현장 점검</a:t>
            </a:r>
            <a:endParaRPr lang="en-US" sz="1400" dirty="0"/>
          </a:p>
        </p:txBody>
      </p:sp>
      <p:sp>
        <p:nvSpPr>
          <p:cNvPr id="29" name="Shape 17"/>
          <p:cNvSpPr/>
          <p:nvPr/>
        </p:nvSpPr>
        <p:spPr>
          <a:xfrm>
            <a:off x="952805" y="3901135"/>
            <a:ext cx="2266798" cy="1438351"/>
          </a:xfrm>
          <a:prstGeom prst="roundRect">
            <a:avLst>
              <a:gd name="adj" fmla="val 8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4595" y="4053840"/>
            <a:ext cx="105156" cy="105156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209751" y="4053840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앱을 통한 구역별 체크리스트 작성</a:t>
            </a:r>
            <a:endParaRPr lang="en-US" sz="10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4595" y="4519270"/>
            <a:ext cx="105156" cy="105156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209751" y="4519270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사진 및 동영상 실시간 촬영/업로드</a:t>
            </a:r>
            <a:endParaRPr lang="en-US" sz="10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4595" y="4983785"/>
            <a:ext cx="105156" cy="105156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209751" y="4983785"/>
            <a:ext cx="2144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파손 부위 및 특이사항 즉시 마킹</a:t>
            </a:r>
            <a:endParaRPr lang="en-US" sz="10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82135" y="2388718"/>
            <a:ext cx="952805" cy="952805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2"/>
          <a:srcRect t="-24" b="-24"/>
          <a:stretch/>
        </p:blipFill>
        <p:spPr>
          <a:xfrm>
            <a:off x="4520794" y="2674925"/>
            <a:ext cx="476402" cy="381305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4034333" y="3531718"/>
            <a:ext cx="14557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데이터 처리</a:t>
            </a:r>
            <a:endParaRPr lang="en-US" sz="1400" dirty="0"/>
          </a:p>
        </p:txBody>
      </p:sp>
      <p:sp>
        <p:nvSpPr>
          <p:cNvPr id="39" name="Shape 22"/>
          <p:cNvSpPr/>
          <p:nvPr/>
        </p:nvSpPr>
        <p:spPr>
          <a:xfrm>
            <a:off x="3627425" y="3901135"/>
            <a:ext cx="2266798" cy="1438351"/>
          </a:xfrm>
          <a:prstGeom prst="roundRect">
            <a:avLst>
              <a:gd name="adj" fmla="val 84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79215" y="4053840"/>
            <a:ext cx="105156" cy="105156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3884371" y="4053840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이미지의 결함 유형 AI 분석</a:t>
            </a:r>
            <a:endParaRPr lang="en-US" sz="1000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79215" y="4519270"/>
            <a:ext cx="105156" cy="105156"/>
          </a:xfrm>
          <a:prstGeom prst="rect">
            <a:avLst/>
          </a:prstGeom>
        </p:spPr>
      </p:pic>
      <p:sp>
        <p:nvSpPr>
          <p:cNvPr id="43" name="Text 24"/>
          <p:cNvSpPr txBox="1"/>
          <p:nvPr/>
        </p:nvSpPr>
        <p:spPr>
          <a:xfrm>
            <a:off x="3884371" y="4519270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점검 데이터와 비교 분석 (Change Log)</a:t>
            </a:r>
            <a:endParaRPr lang="en-US" sz="100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79215" y="4983785"/>
            <a:ext cx="105156" cy="105156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3884371" y="4983785"/>
            <a:ext cx="2209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항목별 등급(A~F) 자동 산출</a:t>
            </a:r>
            <a:endParaRPr lang="en-US" sz="1000" dirty="0"/>
          </a:p>
        </p:txBody>
      </p:sp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56755" y="2291791"/>
            <a:ext cx="952805" cy="952805"/>
          </a:xfrm>
          <a:prstGeom prst="rect">
            <a:avLst/>
          </a:prstGeom>
        </p:spPr>
      </p:pic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242962" y="2577998"/>
            <a:ext cx="381305" cy="381305"/>
          </a:xfrm>
          <a:prstGeom prst="rect">
            <a:avLst/>
          </a:prstGeom>
        </p:spPr>
      </p:pic>
      <p:sp>
        <p:nvSpPr>
          <p:cNvPr id="48" name="Text 26"/>
          <p:cNvSpPr txBox="1"/>
          <p:nvPr/>
        </p:nvSpPr>
        <p:spPr>
          <a:xfrm>
            <a:off x="6451092" y="3434791"/>
            <a:ext cx="19641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리포트 자동 생성</a:t>
            </a:r>
            <a:endParaRPr lang="en-US" sz="1400" dirty="0"/>
          </a:p>
        </p:txBody>
      </p:sp>
      <p:sp>
        <p:nvSpPr>
          <p:cNvPr id="49" name="Shape 27"/>
          <p:cNvSpPr/>
          <p:nvPr/>
        </p:nvSpPr>
        <p:spPr>
          <a:xfrm>
            <a:off x="6302045" y="3804209"/>
            <a:ext cx="2266798" cy="1628546"/>
          </a:xfrm>
          <a:prstGeom prst="roundRect">
            <a:avLst>
              <a:gd name="adj" fmla="val 65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2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53835" y="3956914"/>
            <a:ext cx="105156" cy="105156"/>
          </a:xfrm>
          <a:prstGeom prst="rect">
            <a:avLst/>
          </a:prstGeom>
        </p:spPr>
      </p:pic>
      <p:sp>
        <p:nvSpPr>
          <p:cNvPr id="51" name="Text 28"/>
          <p:cNvSpPr txBox="1"/>
          <p:nvPr/>
        </p:nvSpPr>
        <p:spPr>
          <a:xfrm>
            <a:off x="6558991" y="3956914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디자인 템플릿 기반 PDF 자동 병합</a:t>
            </a:r>
            <a:endParaRPr lang="en-US" sz="1000" dirty="0"/>
          </a:p>
        </p:txBody>
      </p:sp>
      <p:pic>
        <p:nvPicPr>
          <p:cNvPr id="52" name="Image 2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53835" y="4421429"/>
            <a:ext cx="105156" cy="105156"/>
          </a:xfrm>
          <a:prstGeom prst="rect">
            <a:avLst/>
          </a:prstGeom>
        </p:spPr>
      </p:pic>
      <p:sp>
        <p:nvSpPr>
          <p:cNvPr id="53" name="Text 29"/>
          <p:cNvSpPr txBox="1"/>
          <p:nvPr/>
        </p:nvSpPr>
        <p:spPr>
          <a:xfrm>
            <a:off x="6558991" y="4421429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점검 / 수리 전후 / 퇴거 점검 등 유형별 생성</a:t>
            </a:r>
            <a:endParaRPr lang="en-US" sz="1000" dirty="0"/>
          </a:p>
        </p:txBody>
      </p:sp>
      <p:pic>
        <p:nvPicPr>
          <p:cNvPr id="54" name="Image 2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53835" y="4886858"/>
            <a:ext cx="105156" cy="105156"/>
          </a:xfrm>
          <a:prstGeom prst="rect">
            <a:avLst/>
          </a:prstGeom>
        </p:spPr>
      </p:pic>
      <p:sp>
        <p:nvSpPr>
          <p:cNvPr id="55" name="Text 30"/>
          <p:cNvSpPr txBox="1"/>
          <p:nvPr/>
        </p:nvSpPr>
        <p:spPr>
          <a:xfrm>
            <a:off x="6558991" y="4886858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House Log 데이터베이스에 영구 저장</a:t>
            </a:r>
            <a:endParaRPr lang="en-US" sz="1000" dirty="0"/>
          </a:p>
        </p:txBody>
      </p:sp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631375" y="2339077"/>
            <a:ext cx="952805" cy="952805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866376" y="2633855"/>
            <a:ext cx="381305" cy="381305"/>
          </a:xfrm>
          <a:prstGeom prst="rect">
            <a:avLst/>
          </a:prstGeom>
        </p:spPr>
      </p:pic>
      <p:sp>
        <p:nvSpPr>
          <p:cNvPr id="58" name="Text 31"/>
          <p:cNvSpPr txBox="1"/>
          <p:nvPr/>
        </p:nvSpPr>
        <p:spPr>
          <a:xfrm>
            <a:off x="9366199" y="3629558"/>
            <a:ext cx="14849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전송 및 공유</a:t>
            </a:r>
            <a:endParaRPr lang="en-US" sz="1400" dirty="0"/>
          </a:p>
        </p:txBody>
      </p:sp>
      <p:sp>
        <p:nvSpPr>
          <p:cNvPr id="59" name="Shape 32"/>
          <p:cNvSpPr/>
          <p:nvPr/>
        </p:nvSpPr>
        <p:spPr>
          <a:xfrm>
            <a:off x="8976665" y="3998976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2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8455" y="4150766"/>
            <a:ext cx="105156" cy="105156"/>
          </a:xfrm>
          <a:prstGeom prst="rect">
            <a:avLst/>
          </a:prstGeom>
        </p:spPr>
      </p:pic>
      <p:sp>
        <p:nvSpPr>
          <p:cNvPr id="61" name="Text 33"/>
          <p:cNvSpPr txBox="1"/>
          <p:nvPr/>
        </p:nvSpPr>
        <p:spPr>
          <a:xfrm>
            <a:off x="9233611" y="4150766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 앱으로 리포트 도착 알림 (Push)</a:t>
            </a:r>
            <a:endParaRPr lang="en-US" sz="1000" dirty="0"/>
          </a:p>
        </p:txBody>
      </p:sp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8455" y="4616196"/>
            <a:ext cx="105156" cy="105156"/>
          </a:xfrm>
          <a:prstGeom prst="rect">
            <a:avLst/>
          </a:prstGeom>
        </p:spPr>
      </p:pic>
      <p:sp>
        <p:nvSpPr>
          <p:cNvPr id="63" name="Text 34"/>
          <p:cNvSpPr txBox="1"/>
          <p:nvPr/>
        </p:nvSpPr>
        <p:spPr>
          <a:xfrm>
            <a:off x="9233611" y="4616196"/>
            <a:ext cx="21982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임차인에게 수리 결과 리포트 공유</a:t>
            </a:r>
            <a:endParaRPr lang="en-US" sz="1000" dirty="0"/>
          </a:p>
        </p:txBody>
      </p:sp>
      <p:pic>
        <p:nvPicPr>
          <p:cNvPr id="64" name="Image 2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8455" y="4886858"/>
            <a:ext cx="105156" cy="105156"/>
          </a:xfrm>
          <a:prstGeom prst="rect">
            <a:avLst/>
          </a:prstGeom>
        </p:spPr>
      </p:pic>
      <p:sp>
        <p:nvSpPr>
          <p:cNvPr id="65" name="Text 35"/>
          <p:cNvSpPr txBox="1"/>
          <p:nvPr/>
        </p:nvSpPr>
        <p:spPr>
          <a:xfrm>
            <a:off x="9233611" y="4886858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 및 이메일 전송 지원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29500" y="-1904695"/>
            <a:ext cx="6667805" cy="6667805"/>
          </a:xfrm>
          <a:prstGeom prst="ellipse">
            <a:avLst/>
          </a:prstGeom>
          <a:solidFill>
            <a:srgbClr val="60A5F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6544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TECH: SETTLEMENT LOGIC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8811158" y="651053"/>
            <a:ext cx="31171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06. 핵심 기술 &gt; Butler Settlement Logic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공정한 수선비 자동 산출</a:t>
            </a: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2247595" y="1849831"/>
            <a:ext cx="76965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LH 수선비 기준과 대법원 판례 데이터를 학습한 알고리즘이 감가상각을 적용하여 임대인과 임차인 간의 가장 합리적인 비용 분담 비율을 제시합니다.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1695" y="5528386"/>
            <a:ext cx="10668305" cy="1162202"/>
          </a:xfrm>
          <a:prstGeom prst="roundRect">
            <a:avLst>
              <a:gd name="adj" fmla="val 1547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1057046" y="5924321"/>
            <a:ext cx="457200" cy="3621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57807" y="5728640"/>
            <a:ext cx="30385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57807" y="5934380"/>
            <a:ext cx="30010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기준을 통한 분쟁 제로(Zero)화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5658" y="6034049"/>
            <a:ext cx="142646" cy="14264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95114" y="5888660"/>
            <a:ext cx="2134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소모 없는 데이터 기반 합의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35978" y="6034049"/>
            <a:ext cx="142646" cy="14264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54519" y="5888660"/>
            <a:ext cx="17337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분쟁 예방 및 비용 절감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98534" y="6034049"/>
            <a:ext cx="142646" cy="14264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517075" y="5888660"/>
            <a:ext cx="168432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퇴거 정산 시간 획기적 단축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761695" y="6683273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7292340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14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238098" y="2895829"/>
            <a:ext cx="9715500" cy="1920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 t="-402" b="-402"/>
          <a:stretch/>
        </p:blipFill>
        <p:spPr>
          <a:xfrm>
            <a:off x="1238098" y="2895829"/>
            <a:ext cx="8534095" cy="19202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07515" y="2419426"/>
            <a:ext cx="952805" cy="952805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rcRect l="-17" r="-17"/>
          <a:stretch/>
        </p:blipFill>
        <p:spPr>
          <a:xfrm>
            <a:off x="1917497" y="2705633"/>
            <a:ext cx="333756" cy="38130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951890" y="3562426"/>
            <a:ext cx="22667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법적/기준 데이터 수집</a:t>
            </a:r>
            <a:endParaRPr lang="en-US" sz="1300" dirty="0"/>
          </a:p>
        </p:txBody>
      </p:sp>
      <p:sp>
        <p:nvSpPr>
          <p:cNvPr id="29" name="Shape 17"/>
          <p:cNvSpPr/>
          <p:nvPr/>
        </p:nvSpPr>
        <p:spPr>
          <a:xfrm>
            <a:off x="952805" y="390898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4595" y="4061689"/>
            <a:ext cx="105156" cy="105156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209751" y="4061689"/>
            <a:ext cx="1882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LH 수선비 부담 가이드라인 DB</a:t>
            </a:r>
            <a:endParaRPr lang="en-US" sz="9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4595" y="4320464"/>
            <a:ext cx="105156" cy="105156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209751" y="4320464"/>
            <a:ext cx="21442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대법원 및 하급심 판례 데이터 학습</a:t>
            </a:r>
            <a:endParaRPr lang="en-US" sz="9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04595" y="4580153"/>
            <a:ext cx="105156" cy="105156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209751" y="4580153"/>
            <a:ext cx="193212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주택임대차분쟁조정위원회 조정 사례</a:t>
            </a:r>
            <a:endParaRPr lang="en-US" sz="9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82135" y="2419426"/>
            <a:ext cx="952805" cy="952805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2"/>
          <a:srcRect l="-40" r="-40"/>
          <a:stretch/>
        </p:blipFill>
        <p:spPr>
          <a:xfrm>
            <a:off x="4615891" y="2705633"/>
            <a:ext cx="286207" cy="381305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3769157" y="3562426"/>
            <a:ext cx="198241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감가상각/과실 분석</a:t>
            </a:r>
            <a:endParaRPr lang="en-US" sz="1300" dirty="0"/>
          </a:p>
        </p:txBody>
      </p:sp>
      <p:sp>
        <p:nvSpPr>
          <p:cNvPr id="39" name="Shape 22"/>
          <p:cNvSpPr/>
          <p:nvPr/>
        </p:nvSpPr>
        <p:spPr>
          <a:xfrm>
            <a:off x="3627425" y="390898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79215" y="4061689"/>
            <a:ext cx="105156" cy="105156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3884371" y="4061689"/>
            <a:ext cx="17410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시설물별 표준 내구연수 대입</a:t>
            </a:r>
            <a:endParaRPr lang="en-US" sz="900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79215" y="4320464"/>
            <a:ext cx="105156" cy="105156"/>
          </a:xfrm>
          <a:prstGeom prst="rect">
            <a:avLst/>
          </a:prstGeom>
        </p:spPr>
      </p:pic>
      <p:sp>
        <p:nvSpPr>
          <p:cNvPr id="43" name="Text 24"/>
          <p:cNvSpPr txBox="1"/>
          <p:nvPr/>
        </p:nvSpPr>
        <p:spPr>
          <a:xfrm>
            <a:off x="3884371" y="4320464"/>
            <a:ext cx="1943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경과 연수에 따른 잔존가치 계산</a:t>
            </a:r>
            <a:endParaRPr lang="en-US" sz="900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79215" y="4580153"/>
            <a:ext cx="105156" cy="105156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3884371" y="4580153"/>
            <a:ext cx="2250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과실 vs 자연 마모 귀책 분석</a:t>
            </a:r>
            <a:endParaRPr lang="en-US" sz="900" dirty="0"/>
          </a:p>
        </p:txBody>
      </p:sp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56755" y="2419426"/>
            <a:ext cx="952805" cy="952805"/>
          </a:xfrm>
          <a:prstGeom prst="rect">
            <a:avLst/>
          </a:prstGeom>
        </p:spPr>
      </p:pic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13"/>
          <a:srcRect t="-24" b="-24"/>
          <a:stretch/>
        </p:blipFill>
        <p:spPr>
          <a:xfrm>
            <a:off x="7195414" y="2705633"/>
            <a:ext cx="476402" cy="381305"/>
          </a:xfrm>
          <a:prstGeom prst="rect">
            <a:avLst/>
          </a:prstGeom>
        </p:spPr>
      </p:pic>
      <p:sp>
        <p:nvSpPr>
          <p:cNvPr id="48" name="Text 26"/>
          <p:cNvSpPr txBox="1"/>
          <p:nvPr/>
        </p:nvSpPr>
        <p:spPr>
          <a:xfrm>
            <a:off x="6390742" y="3562426"/>
            <a:ext cx="20884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분담 비율 자동 산출</a:t>
            </a:r>
            <a:endParaRPr lang="en-US" sz="1300" dirty="0"/>
          </a:p>
        </p:txBody>
      </p:sp>
      <p:sp>
        <p:nvSpPr>
          <p:cNvPr id="49" name="Shape 27"/>
          <p:cNvSpPr/>
          <p:nvPr/>
        </p:nvSpPr>
        <p:spPr>
          <a:xfrm>
            <a:off x="6302045" y="390898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2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53835" y="4061689"/>
            <a:ext cx="105156" cy="105156"/>
          </a:xfrm>
          <a:prstGeom prst="rect">
            <a:avLst/>
          </a:prstGeom>
        </p:spPr>
      </p:pic>
      <p:sp>
        <p:nvSpPr>
          <p:cNvPr id="51" name="Text 28"/>
          <p:cNvSpPr txBox="1"/>
          <p:nvPr/>
        </p:nvSpPr>
        <p:spPr>
          <a:xfrm>
            <a:off x="6558991" y="4061689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복구 비용(시장가) 산출</a:t>
            </a:r>
            <a:endParaRPr lang="en-US" sz="900" dirty="0"/>
          </a:p>
        </p:txBody>
      </p:sp>
      <p:pic>
        <p:nvPicPr>
          <p:cNvPr id="52" name="Image 2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53835" y="4320464"/>
            <a:ext cx="105156" cy="105156"/>
          </a:xfrm>
          <a:prstGeom prst="rect">
            <a:avLst/>
          </a:prstGeom>
        </p:spPr>
      </p:pic>
      <p:sp>
        <p:nvSpPr>
          <p:cNvPr id="53" name="Text 29"/>
          <p:cNvSpPr txBox="1"/>
          <p:nvPr/>
        </p:nvSpPr>
        <p:spPr>
          <a:xfrm>
            <a:off x="6558991" y="4320464"/>
            <a:ext cx="193212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 : 임차인 분담 비율 제시 (예: 30:70)</a:t>
            </a:r>
            <a:endParaRPr lang="en-US" sz="900" dirty="0"/>
          </a:p>
        </p:txBody>
      </p:sp>
      <p:pic>
        <p:nvPicPr>
          <p:cNvPr id="54" name="Image 2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53835" y="4763033"/>
            <a:ext cx="105156" cy="105156"/>
          </a:xfrm>
          <a:prstGeom prst="rect">
            <a:avLst/>
          </a:prstGeom>
        </p:spPr>
      </p:pic>
      <p:sp>
        <p:nvSpPr>
          <p:cNvPr id="55" name="Text 30"/>
          <p:cNvSpPr txBox="1"/>
          <p:nvPr/>
        </p:nvSpPr>
        <p:spPr>
          <a:xfrm>
            <a:off x="6558991" y="4763033"/>
            <a:ext cx="1943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감가상각 공제 후 실부담액 확정</a:t>
            </a:r>
            <a:endParaRPr lang="en-US" sz="900" dirty="0"/>
          </a:p>
        </p:txBody>
      </p:sp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631375" y="2419426"/>
            <a:ext cx="952805" cy="952805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15"/>
          <a:srcRect l="-40" r="-40"/>
          <a:stretch/>
        </p:blipFill>
        <p:spPr>
          <a:xfrm>
            <a:off x="9965131" y="2705633"/>
            <a:ext cx="286207" cy="381305"/>
          </a:xfrm>
          <a:prstGeom prst="rect">
            <a:avLst/>
          </a:prstGeom>
        </p:spPr>
      </p:pic>
      <p:sp>
        <p:nvSpPr>
          <p:cNvPr id="58" name="Text 31"/>
          <p:cNvSpPr txBox="1"/>
          <p:nvPr/>
        </p:nvSpPr>
        <p:spPr>
          <a:xfrm>
            <a:off x="9210751" y="3562426"/>
            <a:ext cx="18031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정산 리포트 발행</a:t>
            </a:r>
            <a:endParaRPr lang="en-US" sz="1300" dirty="0"/>
          </a:p>
        </p:txBody>
      </p:sp>
      <p:sp>
        <p:nvSpPr>
          <p:cNvPr id="59" name="Shape 32"/>
          <p:cNvSpPr/>
          <p:nvPr/>
        </p:nvSpPr>
        <p:spPr>
          <a:xfrm>
            <a:off x="8976665" y="390898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2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8455" y="4061689"/>
            <a:ext cx="105156" cy="105156"/>
          </a:xfrm>
          <a:prstGeom prst="rect">
            <a:avLst/>
          </a:prstGeom>
        </p:spPr>
      </p:pic>
      <p:sp>
        <p:nvSpPr>
          <p:cNvPr id="61" name="Text 33"/>
          <p:cNvSpPr txBox="1"/>
          <p:nvPr/>
        </p:nvSpPr>
        <p:spPr>
          <a:xfrm>
            <a:off x="9233611" y="4061689"/>
            <a:ext cx="22704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데이터 포함된 정산 리포트 생성</a:t>
            </a:r>
            <a:endParaRPr lang="en-US" sz="900" dirty="0"/>
          </a:p>
        </p:txBody>
      </p:sp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8455" y="4320464"/>
            <a:ext cx="105156" cy="105156"/>
          </a:xfrm>
          <a:prstGeom prst="rect">
            <a:avLst/>
          </a:prstGeom>
        </p:spPr>
      </p:pic>
      <p:sp>
        <p:nvSpPr>
          <p:cNvPr id="63" name="Text 34"/>
          <p:cNvSpPr txBox="1"/>
          <p:nvPr/>
        </p:nvSpPr>
        <p:spPr>
          <a:xfrm>
            <a:off x="9233611" y="4320464"/>
            <a:ext cx="2019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양측 앱으로 합의/결제 요청 전송</a:t>
            </a:r>
            <a:endParaRPr lang="en-US" sz="900" dirty="0"/>
          </a:p>
        </p:txBody>
      </p:sp>
      <p:pic>
        <p:nvPicPr>
          <p:cNvPr id="64" name="Image 2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8455" y="4580153"/>
            <a:ext cx="105156" cy="105156"/>
          </a:xfrm>
          <a:prstGeom prst="rect">
            <a:avLst/>
          </a:prstGeom>
        </p:spPr>
      </p:pic>
      <p:sp>
        <p:nvSpPr>
          <p:cNvPr id="65" name="Text 35"/>
          <p:cNvSpPr txBox="1"/>
          <p:nvPr/>
        </p:nvSpPr>
        <p:spPr>
          <a:xfrm>
            <a:off x="9233611" y="4580153"/>
            <a:ext cx="18928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반환 시 자동 공제 연동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429500" y="-1904695"/>
            <a:ext cx="6667805" cy="6667805"/>
          </a:xfrm>
          <a:prstGeom prst="ellipse">
            <a:avLst/>
          </a:prstGeom>
          <a:solidFill>
            <a:srgbClr val="60A5F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476402"/>
            <a:ext cx="6896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TECH: AI/OCR AUTOMATION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513418" y="651053"/>
            <a:ext cx="22338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06. 핵심 기술 &gt; AI/OCR 자동화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서류 한 장으로 끝나는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완벽한 권리 분석 및 인증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2247595" y="1849831"/>
            <a:ext cx="76965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버틀러의 AI OCR 기술은 복잡한 등기부등본을 실시간으로 분석하여 권리 관계를 파악하고, 임대인의 신원을 자동으로 검증합니다.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1695" y="5566639"/>
            <a:ext cx="10668305" cy="1162202"/>
          </a:xfrm>
          <a:prstGeom prst="roundRect">
            <a:avLst>
              <a:gd name="adj" fmla="val 15478"/>
            </a:avLst>
          </a:prstGeom>
          <a:solidFill>
            <a:srgbClr val="60A5FA">
              <a:alpha val="1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046" y="5962574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61795" y="5766892"/>
            <a:ext cx="26453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ADDED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561795" y="5972632"/>
            <a:ext cx="26197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 본인 인증 &amp; 리스크 제로화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97426" y="6072302"/>
            <a:ext cx="142646" cy="14264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15968" y="5926912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FF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교차 검증 (Cross-check)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97650" y="6072302"/>
            <a:ext cx="142646" cy="14264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6191" y="5926912"/>
            <a:ext cx="1362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FF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위변조 서류 자동 탐지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99018" y="6072302"/>
            <a:ext cx="142646" cy="14264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817559" y="5926912"/>
            <a:ext cx="2400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FF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재검증(Re-verification) 시스템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761695" y="6721526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 txBox="1"/>
          <p:nvPr/>
        </p:nvSpPr>
        <p:spPr>
          <a:xfrm>
            <a:off x="761695" y="6825767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15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238098" y="2914879"/>
            <a:ext cx="9715500" cy="19202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1238098" y="2914879"/>
            <a:ext cx="10668305" cy="1920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07515" y="2484196"/>
            <a:ext cx="952805" cy="952805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40" r="-40"/>
          <a:stretch/>
        </p:blipFill>
        <p:spPr>
          <a:xfrm>
            <a:off x="1941271" y="2770403"/>
            <a:ext cx="286207" cy="3813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360627" y="3627196"/>
            <a:ext cx="14520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문서 업로드</a:t>
            </a:r>
            <a:endParaRPr lang="en-US" sz="1400" dirty="0"/>
          </a:p>
        </p:txBody>
      </p:sp>
      <p:sp>
        <p:nvSpPr>
          <p:cNvPr id="28" name="Shape 17"/>
          <p:cNvSpPr/>
          <p:nvPr/>
        </p:nvSpPr>
        <p:spPr>
          <a:xfrm>
            <a:off x="952805" y="3996614"/>
            <a:ext cx="2266798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149319"/>
            <a:ext cx="105156" cy="105156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09751" y="4149319"/>
            <a:ext cx="21826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등기부등본 PDF 또는 이미지 등록</a:t>
            </a:r>
            <a:endParaRPr lang="en-US" sz="10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419981"/>
            <a:ext cx="105156" cy="105156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209751" y="4419981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카메라 촬영 지원</a:t>
            </a:r>
            <a:endParaRPr lang="en-US" sz="10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690643"/>
            <a:ext cx="105156" cy="105156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1209751" y="4690643"/>
            <a:ext cx="2144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페이지 문서 일괄 처리 가능</a:t>
            </a:r>
            <a:endParaRPr lang="en-US" sz="10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82135" y="2438476"/>
            <a:ext cx="952805" cy="952805"/>
          </a:xfrm>
          <a:prstGeom prst="rect">
            <a:avLst/>
          </a:prstGeom>
        </p:spPr>
      </p:pic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68342" y="2724683"/>
            <a:ext cx="381305" cy="381305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3986784" y="3581476"/>
            <a:ext cx="154899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AI OCR 판독</a:t>
            </a:r>
            <a:endParaRPr lang="en-US" sz="1400" dirty="0"/>
          </a:p>
        </p:txBody>
      </p:sp>
      <p:sp>
        <p:nvSpPr>
          <p:cNvPr id="38" name="Shape 22"/>
          <p:cNvSpPr/>
          <p:nvPr/>
        </p:nvSpPr>
        <p:spPr>
          <a:xfrm>
            <a:off x="3627425" y="395089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79215" y="4103599"/>
            <a:ext cx="105156" cy="105156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3884371" y="4103599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 텍스트 인식 엔진 적용</a:t>
            </a:r>
            <a:endParaRPr lang="en-US" sz="10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79215" y="4374261"/>
            <a:ext cx="105156" cy="105156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3884371" y="4374261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노이즈 제거 및 보정</a:t>
            </a:r>
            <a:endParaRPr lang="en-US" sz="1000" dirty="0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79215" y="4644923"/>
            <a:ext cx="105156" cy="105156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3884371" y="4644923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양식 자동 분류 (표제부/갑구/을구)</a:t>
            </a:r>
            <a:endParaRPr lang="en-US" sz="1000" dirty="0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56755" y="2438476"/>
            <a:ext cx="952805" cy="952805"/>
          </a:xfrm>
          <a:prstGeom prst="rect">
            <a:avLst/>
          </a:prstGeom>
        </p:spPr>
      </p:pic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12"/>
          <a:srcRect l="-17" r="-17"/>
          <a:stretch/>
        </p:blipFill>
        <p:spPr>
          <a:xfrm>
            <a:off x="7266737" y="2724683"/>
            <a:ext cx="333756" cy="381305"/>
          </a:xfrm>
          <a:prstGeom prst="rect">
            <a:avLst/>
          </a:prstGeom>
        </p:spPr>
      </p:pic>
      <p:sp>
        <p:nvSpPr>
          <p:cNvPr id="47" name="Text 26"/>
          <p:cNvSpPr txBox="1"/>
          <p:nvPr/>
        </p:nvSpPr>
        <p:spPr>
          <a:xfrm>
            <a:off x="6709867" y="3581476"/>
            <a:ext cx="14557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데이터 파싱</a:t>
            </a:r>
            <a:endParaRPr lang="en-US" sz="1400" dirty="0"/>
          </a:p>
        </p:txBody>
      </p:sp>
      <p:sp>
        <p:nvSpPr>
          <p:cNvPr id="48" name="Shape 27"/>
          <p:cNvSpPr/>
          <p:nvPr/>
        </p:nvSpPr>
        <p:spPr>
          <a:xfrm>
            <a:off x="6302045" y="395089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53835" y="4103599"/>
            <a:ext cx="105156" cy="105156"/>
          </a:xfrm>
          <a:prstGeom prst="rect">
            <a:avLst/>
          </a:prstGeom>
        </p:spPr>
      </p:pic>
      <p:sp>
        <p:nvSpPr>
          <p:cNvPr id="50" name="Text 28"/>
          <p:cNvSpPr txBox="1"/>
          <p:nvPr/>
        </p:nvSpPr>
        <p:spPr>
          <a:xfrm>
            <a:off x="6558991" y="4103599"/>
            <a:ext cx="22256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소유자 정보(이름, 주민번호) 추출</a:t>
            </a:r>
            <a:endParaRPr lang="en-US" sz="1000" dirty="0"/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53835" y="4374261"/>
            <a:ext cx="105156" cy="105156"/>
          </a:xfrm>
          <a:prstGeom prst="rect">
            <a:avLst/>
          </a:prstGeom>
        </p:spPr>
      </p:pic>
      <p:sp>
        <p:nvSpPr>
          <p:cNvPr id="52" name="Text 29"/>
          <p:cNvSpPr txBox="1"/>
          <p:nvPr/>
        </p:nvSpPr>
        <p:spPr>
          <a:xfrm>
            <a:off x="6558991" y="4374261"/>
            <a:ext cx="20107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근저당 설정액, 압류 여부 파싱</a:t>
            </a:r>
            <a:endParaRPr lang="en-US" sz="1000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53835" y="4644923"/>
            <a:ext cx="105156" cy="105156"/>
          </a:xfrm>
          <a:prstGeom prst="rect">
            <a:avLst/>
          </a:prstGeom>
        </p:spPr>
      </p:pic>
      <p:sp>
        <p:nvSpPr>
          <p:cNvPr id="54" name="Text 30"/>
          <p:cNvSpPr txBox="1"/>
          <p:nvPr/>
        </p:nvSpPr>
        <p:spPr>
          <a:xfrm>
            <a:off x="6558991" y="4644923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텍스트의 구조화된 데이터 변환</a:t>
            </a:r>
            <a:endParaRPr lang="en-US" sz="1000" dirty="0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31375" y="2438476"/>
            <a:ext cx="952805" cy="95280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13"/>
          <a:srcRect t="-24" b="-24"/>
          <a:stretch/>
        </p:blipFill>
        <p:spPr>
          <a:xfrm>
            <a:off x="9870034" y="2724683"/>
            <a:ext cx="476402" cy="381305"/>
          </a:xfrm>
          <a:prstGeom prst="rect">
            <a:avLst/>
          </a:prstGeom>
        </p:spPr>
      </p:pic>
      <p:sp>
        <p:nvSpPr>
          <p:cNvPr id="57" name="Text 31"/>
          <p:cNvSpPr txBox="1"/>
          <p:nvPr/>
        </p:nvSpPr>
        <p:spPr>
          <a:xfrm>
            <a:off x="9366199" y="3581476"/>
            <a:ext cx="14849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검증 및 진단</a:t>
            </a:r>
            <a:endParaRPr lang="en-US" sz="1400" dirty="0"/>
          </a:p>
        </p:txBody>
      </p:sp>
      <p:sp>
        <p:nvSpPr>
          <p:cNvPr id="58" name="Shape 32"/>
          <p:cNvSpPr/>
          <p:nvPr/>
        </p:nvSpPr>
        <p:spPr>
          <a:xfrm>
            <a:off x="8976665" y="3950894"/>
            <a:ext cx="2266798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2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128455" y="4103599"/>
            <a:ext cx="105156" cy="105156"/>
          </a:xfrm>
          <a:prstGeom prst="rect">
            <a:avLst/>
          </a:prstGeom>
        </p:spPr>
      </p:pic>
      <p:sp>
        <p:nvSpPr>
          <p:cNvPr id="60" name="Text 33"/>
          <p:cNvSpPr txBox="1"/>
          <p:nvPr/>
        </p:nvSpPr>
        <p:spPr>
          <a:xfrm>
            <a:off x="9233611" y="4103599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실소유주 일치 여부 자동 대조</a:t>
            </a:r>
            <a:endParaRPr lang="en-US" sz="1000" dirty="0"/>
          </a:p>
        </p:txBody>
      </p:sp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128455" y="4374261"/>
            <a:ext cx="105156" cy="105156"/>
          </a:xfrm>
          <a:prstGeom prst="rect">
            <a:avLst/>
          </a:prstGeom>
        </p:spPr>
      </p:pic>
      <p:sp>
        <p:nvSpPr>
          <p:cNvPr id="62" name="Text 34"/>
          <p:cNvSpPr txBox="1"/>
          <p:nvPr/>
        </p:nvSpPr>
        <p:spPr>
          <a:xfrm>
            <a:off x="9233611" y="4374261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권리 리스크(깡통전세 등) 자동 진단</a:t>
            </a:r>
            <a:endParaRPr lang="en-US" sz="1000" dirty="0"/>
          </a:p>
        </p:txBody>
      </p:sp>
      <p:pic>
        <p:nvPicPr>
          <p:cNvPr id="63" name="Image 2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128455" y="4838776"/>
            <a:ext cx="105156" cy="105156"/>
          </a:xfrm>
          <a:prstGeom prst="rect">
            <a:avLst/>
          </a:prstGeom>
        </p:spPr>
      </p:pic>
      <p:sp>
        <p:nvSpPr>
          <p:cNvPr id="64" name="Text 35"/>
          <p:cNvSpPr txBox="1"/>
          <p:nvPr/>
        </p:nvSpPr>
        <p:spPr>
          <a:xfrm>
            <a:off x="9233611" y="4838776"/>
            <a:ext cx="1938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등급(Safety Score) 산출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429500" y="-1904695"/>
            <a:ext cx="6667805" cy="6667805"/>
          </a:xfrm>
          <a:prstGeom prst="ellipse">
            <a:avLst/>
          </a:prstGeom>
          <a:solidFill>
            <a:srgbClr val="60A5F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047902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476402"/>
            <a:ext cx="614202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TECH: PUBLIC DATA API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69426" y="651053"/>
            <a:ext cx="318851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06. 핵심 기술 &gt; 공공데이터 연동 및 AMI 산출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6598" y="1343254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파이프라인으로 </a:t>
            </a: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가치를 정량화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685239" y="1849831"/>
            <a:ext cx="882121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국토교통부 및 다양한 공공 API를 실시간 연동하여 자산의 현재 가치와 리스크를 객관적인 지표로 제공합니다.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1695" y="5705551"/>
            <a:ext cx="10668305" cy="886054"/>
          </a:xfrm>
          <a:prstGeom prst="roundRect">
            <a:avLst>
              <a:gd name="adj" fmla="val 26632"/>
            </a:avLst>
          </a:prstGeom>
          <a:solidFill>
            <a:srgbClr val="60A5FA">
              <a:alpha val="8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1057046" y="5964326"/>
            <a:ext cx="323698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24305" y="5905805"/>
            <a:ext cx="27148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DRIVEN INSIGHT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6111545"/>
            <a:ext cx="329732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데이터 기반 자산 가치 평가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9086" y="6074054"/>
            <a:ext cx="142646" cy="14264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68542" y="6037478"/>
            <a:ext cx="1527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실거래 트래킹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33081" y="6074054"/>
            <a:ext cx="142646" cy="14264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952537" y="6037478"/>
            <a:ext cx="1617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소유주 변경 자동 감지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57309" y="6074054"/>
            <a:ext cx="142646" cy="14264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776765" y="6037478"/>
            <a:ext cx="1621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상태 점수화(AMI)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761695" y="6586118"/>
            <a:ext cx="106683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238098" y="3149194"/>
            <a:ext cx="9715500" cy="19202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t="-398" b="-398"/>
          <a:stretch/>
        </p:blipFill>
        <p:spPr>
          <a:xfrm>
            <a:off x="1238098" y="3149194"/>
            <a:ext cx="9068105" cy="1920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58722" y="2672791"/>
            <a:ext cx="952805" cy="952805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t="-24" b="-24"/>
          <a:stretch/>
        </p:blipFill>
        <p:spPr>
          <a:xfrm>
            <a:off x="1897380" y="2958998"/>
            <a:ext cx="476402" cy="3813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292047" y="3815791"/>
            <a:ext cx="16907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공공데이터 수집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952805" y="4162349"/>
            <a:ext cx="2371954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315054"/>
            <a:ext cx="105156" cy="105156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09751" y="4315054"/>
            <a:ext cx="21790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국토부 부동산 실거래가 API 연동</a:t>
            </a:r>
            <a:endParaRPr lang="en-US" sz="10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585716"/>
            <a:ext cx="105156" cy="105156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209751" y="4585716"/>
            <a:ext cx="22256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 (준공년도, 주차장 등)</a:t>
            </a:r>
            <a:endParaRPr lang="en-US" sz="10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856378"/>
            <a:ext cx="105156" cy="105156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1209751" y="4856378"/>
            <a:ext cx="2294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K-APT 단지 정보 및 관리비 데이터</a:t>
            </a:r>
            <a:endParaRPr lang="en-US" sz="10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99509" y="2672791"/>
            <a:ext cx="952805" cy="952805"/>
          </a:xfrm>
          <a:prstGeom prst="rect">
            <a:avLst/>
          </a:prstGeom>
        </p:spPr>
      </p:pic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84802" y="2958998"/>
            <a:ext cx="381305" cy="381305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3849624" y="3815791"/>
            <a:ext cx="185897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ETL / 데이터 정제</a:t>
            </a:r>
            <a:endParaRPr lang="en-US" sz="1300" dirty="0"/>
          </a:p>
        </p:txBody>
      </p:sp>
      <p:sp>
        <p:nvSpPr>
          <p:cNvPr id="38" name="Shape 22"/>
          <p:cNvSpPr/>
          <p:nvPr/>
        </p:nvSpPr>
        <p:spPr>
          <a:xfrm>
            <a:off x="3592678" y="4162349"/>
            <a:ext cx="2371954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45382" y="4315054"/>
            <a:ext cx="105156" cy="105156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3849624" y="4315054"/>
            <a:ext cx="2065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법정동/행정동 주소 체계 표준화</a:t>
            </a:r>
            <a:endParaRPr lang="en-US" sz="10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45382" y="4585716"/>
            <a:ext cx="105156" cy="105156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3849624" y="458571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 보정 및 이상치 제거</a:t>
            </a:r>
            <a:endParaRPr lang="en-US" sz="1000" dirty="0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45382" y="4856378"/>
            <a:ext cx="105156" cy="105156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3849624" y="4856378"/>
            <a:ext cx="18507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단지별/평형별 데이터 그룹화</a:t>
            </a:r>
            <a:endParaRPr lang="en-US" sz="1000" dirty="0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0296" y="2672791"/>
            <a:ext cx="952805" cy="952805"/>
          </a:xfrm>
          <a:prstGeom prst="rect">
            <a:avLst/>
          </a:prstGeom>
        </p:spPr>
      </p:pic>
      <p:pic>
        <p:nvPicPr>
          <p:cNvPr id="46" name="Image 18" descr="preencoded.png"/>
          <p:cNvPicPr>
            <a:picLocks noChangeAspect="1"/>
          </p:cNvPicPr>
          <p:nvPr/>
        </p:nvPicPr>
        <p:blipFill>
          <a:blip r:embed="rId12"/>
          <a:srcRect l="-40" r="-40"/>
          <a:stretch/>
        </p:blipFill>
        <p:spPr>
          <a:xfrm>
            <a:off x="7273138" y="2958998"/>
            <a:ext cx="286207" cy="381305"/>
          </a:xfrm>
          <a:prstGeom prst="rect">
            <a:avLst/>
          </a:prstGeom>
        </p:spPr>
      </p:pic>
      <p:sp>
        <p:nvSpPr>
          <p:cNvPr id="47" name="Text 26"/>
          <p:cNvSpPr txBox="1"/>
          <p:nvPr/>
        </p:nvSpPr>
        <p:spPr>
          <a:xfrm>
            <a:off x="6644945" y="3815791"/>
            <a:ext cx="15489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AMI 지수 산출</a:t>
            </a:r>
            <a:endParaRPr lang="en-US" sz="1300" dirty="0"/>
          </a:p>
        </p:txBody>
      </p:sp>
      <p:sp>
        <p:nvSpPr>
          <p:cNvPr id="48" name="Shape 27"/>
          <p:cNvSpPr/>
          <p:nvPr/>
        </p:nvSpPr>
        <p:spPr>
          <a:xfrm>
            <a:off x="6233465" y="4162349"/>
            <a:ext cx="2371954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5255" y="4315054"/>
            <a:ext cx="105156" cy="105156"/>
          </a:xfrm>
          <a:prstGeom prst="rect">
            <a:avLst/>
          </a:prstGeom>
        </p:spPr>
      </p:pic>
      <p:sp>
        <p:nvSpPr>
          <p:cNvPr id="50" name="Text 28"/>
          <p:cNvSpPr txBox="1"/>
          <p:nvPr/>
        </p:nvSpPr>
        <p:spPr>
          <a:xfrm>
            <a:off x="6490411" y="4315054"/>
            <a:ext cx="22805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노후도/세대수/주차 등 가중치 적용</a:t>
            </a:r>
            <a:endParaRPr lang="en-US" sz="1000" dirty="0"/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5255" y="4585716"/>
            <a:ext cx="105156" cy="105156"/>
          </a:xfrm>
          <a:prstGeom prst="rect">
            <a:avLst/>
          </a:prstGeom>
        </p:spPr>
      </p:pic>
      <p:sp>
        <p:nvSpPr>
          <p:cNvPr id="52" name="Text 29"/>
          <p:cNvSpPr txBox="1"/>
          <p:nvPr/>
        </p:nvSpPr>
        <p:spPr>
          <a:xfrm>
            <a:off x="6490411" y="4585716"/>
            <a:ext cx="19943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버틀러 관리 지수(AMI) 점수화</a:t>
            </a:r>
            <a:endParaRPr lang="en-US" sz="1000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5255" y="4856378"/>
            <a:ext cx="105156" cy="105156"/>
          </a:xfrm>
          <a:prstGeom prst="rect">
            <a:avLst/>
          </a:prstGeom>
        </p:spPr>
      </p:pic>
      <p:sp>
        <p:nvSpPr>
          <p:cNvPr id="54" name="Text 30"/>
          <p:cNvSpPr txBox="1"/>
          <p:nvPr/>
        </p:nvSpPr>
        <p:spPr>
          <a:xfrm>
            <a:off x="6490411" y="4856378"/>
            <a:ext cx="2144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난이도 및 리스크 등급 분류</a:t>
            </a:r>
            <a:endParaRPr lang="en-US" sz="1000" dirty="0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80169" y="2672791"/>
            <a:ext cx="952805" cy="95280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13"/>
          <a:srcRect t="-13" b="-13"/>
          <a:stretch/>
        </p:blipFill>
        <p:spPr>
          <a:xfrm>
            <a:off x="9842602" y="2958998"/>
            <a:ext cx="428854" cy="381305"/>
          </a:xfrm>
          <a:prstGeom prst="rect">
            <a:avLst/>
          </a:prstGeom>
        </p:spPr>
      </p:pic>
      <p:sp>
        <p:nvSpPr>
          <p:cNvPr id="57" name="Text 31"/>
          <p:cNvSpPr txBox="1"/>
          <p:nvPr/>
        </p:nvSpPr>
        <p:spPr>
          <a:xfrm>
            <a:off x="9393631" y="3815791"/>
            <a:ext cx="13359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서비스 제공</a:t>
            </a:r>
            <a:endParaRPr lang="en-US" sz="1300" dirty="0"/>
          </a:p>
        </p:txBody>
      </p:sp>
      <p:sp>
        <p:nvSpPr>
          <p:cNvPr id="58" name="Shape 32"/>
          <p:cNvSpPr/>
          <p:nvPr/>
        </p:nvSpPr>
        <p:spPr>
          <a:xfrm>
            <a:off x="8873338" y="4162349"/>
            <a:ext cx="2371954" cy="1238098"/>
          </a:xfrm>
          <a:prstGeom prst="roundRect">
            <a:avLst>
              <a:gd name="adj" fmla="val 1136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2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026042" y="4315054"/>
            <a:ext cx="105156" cy="105156"/>
          </a:xfrm>
          <a:prstGeom prst="rect">
            <a:avLst/>
          </a:prstGeom>
        </p:spPr>
      </p:pic>
      <p:sp>
        <p:nvSpPr>
          <p:cNvPr id="60" name="Text 33"/>
          <p:cNvSpPr txBox="1"/>
          <p:nvPr/>
        </p:nvSpPr>
        <p:spPr>
          <a:xfrm>
            <a:off x="9131198" y="4315054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대시보드 실시간 지표 표출</a:t>
            </a:r>
            <a:endParaRPr lang="en-US" sz="1000" dirty="0"/>
          </a:p>
        </p:txBody>
      </p:sp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026042" y="4585716"/>
            <a:ext cx="105156" cy="105156"/>
          </a:xfrm>
          <a:prstGeom prst="rect">
            <a:avLst/>
          </a:prstGeom>
        </p:spPr>
      </p:pic>
      <p:sp>
        <p:nvSpPr>
          <p:cNvPr id="62" name="Text 34"/>
          <p:cNvSpPr txBox="1"/>
          <p:nvPr/>
        </p:nvSpPr>
        <p:spPr>
          <a:xfrm>
            <a:off x="9131198" y="4585716"/>
            <a:ext cx="2144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소유주 변동 및 실거래 알림 발송</a:t>
            </a:r>
            <a:endParaRPr lang="en-US" sz="1000" dirty="0"/>
          </a:p>
        </p:txBody>
      </p:sp>
      <p:pic>
        <p:nvPicPr>
          <p:cNvPr id="63" name="Image 2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026042" y="4856378"/>
            <a:ext cx="105156" cy="105156"/>
          </a:xfrm>
          <a:prstGeom prst="rect">
            <a:avLst/>
          </a:prstGeom>
        </p:spPr>
      </p:pic>
      <p:sp>
        <p:nvSpPr>
          <p:cNvPr id="64" name="Text 35"/>
          <p:cNvSpPr txBox="1"/>
          <p:nvPr/>
        </p:nvSpPr>
        <p:spPr>
          <a:xfrm>
            <a:off x="9131198" y="4856378"/>
            <a:ext cx="20638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자산 보고서 데이터 바인딩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867766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4267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3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488729" y="510235"/>
            <a:ext cx="25740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07. 아키텍처 및 스택 &gt; 기술 구조도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058875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안정적인 </a:t>
            </a: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확장 가능한 </a:t>
            </a: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네이티브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환경을 구축합니다. 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6078931"/>
            <a:ext cx="11048695" cy="552298"/>
          </a:xfrm>
          <a:prstGeom prst="roundRect">
            <a:avLst>
              <a:gd name="adj" fmla="val 5709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66851" y="6263640"/>
            <a:ext cx="657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38021" y="6231636"/>
            <a:ext cx="599846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538021" y="6231636"/>
            <a:ext cx="6574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26564" y="6231636"/>
            <a:ext cx="5806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226564" y="6231636"/>
            <a:ext cx="6382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895905" y="6231636"/>
            <a:ext cx="590702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2895905" y="6231636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924044" y="6263640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88482" y="6231636"/>
            <a:ext cx="866851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688482" y="6231636"/>
            <a:ext cx="9244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644030" y="6231636"/>
            <a:ext cx="609905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644030" y="6231636"/>
            <a:ext cx="6675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React.js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692286" y="6263640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50401" y="6231636"/>
            <a:ext cx="42885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9150401" y="6231636"/>
            <a:ext cx="4864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72523" y="6231636"/>
            <a:ext cx="571500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9672523" y="6231636"/>
            <a:ext cx="6291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332720" y="6231636"/>
            <a:ext cx="100035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10332720" y="6231636"/>
            <a:ext cx="10579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1500" y="6774790"/>
            <a:ext cx="11048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571500" y="6879031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66598" y="1621231"/>
            <a:ext cx="8953805" cy="990295"/>
          </a:xfrm>
          <a:prstGeom prst="roundRect">
            <a:avLst>
              <a:gd name="adj" fmla="val 21308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866851" y="1535278"/>
            <a:ext cx="1123798" cy="209398"/>
          </a:xfrm>
          <a:prstGeom prst="roundRect">
            <a:avLst>
              <a:gd name="adj" fmla="val 436680"/>
            </a:avLst>
          </a:prstGeom>
          <a:solidFill>
            <a:srgbClr val="1A202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866851" y="1535278"/>
            <a:ext cx="1200607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1016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LAYER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571646" y="1726387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3696005" y="1811426"/>
            <a:ext cx="228600" cy="30449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3525012" y="2278685"/>
            <a:ext cx="663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iOS App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905756" y="1726387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4972507" y="1811426"/>
            <a:ext cx="342900" cy="30449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4698187" y="2278685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Android App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238951" y="1726387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6305702" y="1811426"/>
            <a:ext cx="342900" cy="30449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067958" y="2278685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Admin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666598" y="2935224"/>
            <a:ext cx="8953805" cy="1800454"/>
          </a:xfrm>
          <a:prstGeom prst="roundRect">
            <a:avLst>
              <a:gd name="adj" fmla="val 6449"/>
            </a:avLst>
          </a:prstGeom>
          <a:solidFill>
            <a:srgbClr val="A78BFA">
              <a:alpha val="3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8"/>
          <p:cNvSpPr/>
          <p:nvPr/>
        </p:nvSpPr>
        <p:spPr>
          <a:xfrm>
            <a:off x="866851" y="2850185"/>
            <a:ext cx="3133649" cy="209398"/>
          </a:xfrm>
          <a:prstGeom prst="roundRect">
            <a:avLst>
              <a:gd name="adj" fmla="val 436680"/>
            </a:avLst>
          </a:prstGeom>
          <a:solidFill>
            <a:srgbClr val="1A202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 txBox="1"/>
          <p:nvPr/>
        </p:nvSpPr>
        <p:spPr>
          <a:xfrm>
            <a:off x="866851" y="2850185"/>
            <a:ext cx="329001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1016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 LAYER (API Gateway &amp; Microservices)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2548433" y="3087929"/>
            <a:ext cx="5191049" cy="418795"/>
          </a:xfrm>
          <a:prstGeom prst="roundRect">
            <a:avLst>
              <a:gd name="adj" fmla="val 7939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3222" y="3238805"/>
            <a:ext cx="133502" cy="13350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3275381" y="3193085"/>
            <a:ext cx="3948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Gateway / Load Balancer / Authentication (JWT)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819302" y="3646627"/>
            <a:ext cx="1619402" cy="942746"/>
          </a:xfrm>
          <a:prstGeom prst="roundRect">
            <a:avLst>
              <a:gd name="adj" fmla="val 1567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rcRect l="-505" r="-505"/>
          <a:stretch/>
        </p:blipFill>
        <p:spPr>
          <a:xfrm>
            <a:off x="1512418" y="3770071"/>
            <a:ext cx="228600" cy="181051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329538" y="4027018"/>
            <a:ext cx="600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1371600" y="4297680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회원/인증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2577694" y="3646627"/>
            <a:ext cx="1619402" cy="942746"/>
          </a:xfrm>
          <a:prstGeom prst="roundRect">
            <a:avLst>
              <a:gd name="adj" fmla="val 1567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rcRect t="-856" b="-856"/>
          <a:stretch/>
        </p:blipFill>
        <p:spPr>
          <a:xfrm>
            <a:off x="3318358" y="3770071"/>
            <a:ext cx="133502" cy="181051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3179369" y="4027018"/>
            <a:ext cx="419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3023921" y="4297680"/>
            <a:ext cx="7296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자산/대시보드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4336085" y="3646627"/>
            <a:ext cx="1619402" cy="942746"/>
          </a:xfrm>
          <a:prstGeom prst="roundRect">
            <a:avLst>
              <a:gd name="adj" fmla="val 1567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rcRect t="-856" b="-856"/>
          <a:stretch/>
        </p:blipFill>
        <p:spPr>
          <a:xfrm>
            <a:off x="5076749" y="3770071"/>
            <a:ext cx="133502" cy="181051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4818888" y="4027018"/>
            <a:ext cx="657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Contract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4888382" y="4297680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계약/정산</a:t>
            </a:r>
            <a:endParaRPr lang="en-US" sz="800" dirty="0"/>
          </a:p>
        </p:txBody>
      </p:sp>
      <p:sp>
        <p:nvSpPr>
          <p:cNvPr id="61" name="Shape 51"/>
          <p:cNvSpPr/>
          <p:nvPr/>
        </p:nvSpPr>
        <p:spPr>
          <a:xfrm>
            <a:off x="6094476" y="3646627"/>
            <a:ext cx="1619402" cy="942746"/>
          </a:xfrm>
          <a:prstGeom prst="roundRect">
            <a:avLst>
              <a:gd name="adj" fmla="val 1567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rcRect t="-856" b="-856"/>
          <a:stretch/>
        </p:blipFill>
        <p:spPr>
          <a:xfrm>
            <a:off x="6835140" y="3770071"/>
            <a:ext cx="133502" cy="181051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6648602" y="4027018"/>
            <a:ext cx="514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6592824" y="4297680"/>
            <a:ext cx="6190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점검/리포트</a:t>
            </a:r>
            <a:endParaRPr lang="en-US" sz="800" dirty="0"/>
          </a:p>
        </p:txBody>
      </p:sp>
      <p:sp>
        <p:nvSpPr>
          <p:cNvPr id="65" name="Shape 54"/>
          <p:cNvSpPr/>
          <p:nvPr/>
        </p:nvSpPr>
        <p:spPr>
          <a:xfrm>
            <a:off x="7851953" y="3646627"/>
            <a:ext cx="1619402" cy="942746"/>
          </a:xfrm>
          <a:prstGeom prst="roundRect">
            <a:avLst>
              <a:gd name="adj" fmla="val 1567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12"/>
          <a:srcRect l="-505" r="-505"/>
          <a:stretch/>
        </p:blipFill>
        <p:spPr>
          <a:xfrm>
            <a:off x="8545982" y="3770071"/>
            <a:ext cx="228600" cy="181051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8364931" y="4027018"/>
            <a:ext cx="590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</a:t>
            </a:r>
            <a:endParaRPr lang="en-US" sz="1000" dirty="0"/>
          </a:p>
        </p:txBody>
      </p:sp>
      <p:sp>
        <p:nvSpPr>
          <p:cNvPr id="68" name="Text 56"/>
          <p:cNvSpPr txBox="1"/>
          <p:nvPr/>
        </p:nvSpPr>
        <p:spPr>
          <a:xfrm>
            <a:off x="8405165" y="4297680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챗봇/알림</a:t>
            </a:r>
            <a:endParaRPr lang="en-US" sz="800" dirty="0"/>
          </a:p>
        </p:txBody>
      </p:sp>
      <p:sp>
        <p:nvSpPr>
          <p:cNvPr id="69" name="Shape 57"/>
          <p:cNvSpPr/>
          <p:nvPr/>
        </p:nvSpPr>
        <p:spPr>
          <a:xfrm>
            <a:off x="666598" y="5057546"/>
            <a:ext cx="8953805" cy="933602"/>
          </a:xfrm>
          <a:prstGeom prst="roundRect">
            <a:avLst>
              <a:gd name="adj" fmla="val 23986"/>
            </a:avLst>
          </a:prstGeom>
          <a:solidFill>
            <a:srgbClr val="34D399">
              <a:alpha val="2000"/>
            </a:srgbClr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8"/>
          <p:cNvSpPr/>
          <p:nvPr/>
        </p:nvSpPr>
        <p:spPr>
          <a:xfrm>
            <a:off x="866851" y="4972507"/>
            <a:ext cx="1304849" cy="209398"/>
          </a:xfrm>
          <a:prstGeom prst="roundRect">
            <a:avLst>
              <a:gd name="adj" fmla="val 436680"/>
            </a:avLst>
          </a:prstGeom>
          <a:solidFill>
            <a:srgbClr val="1A202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9"/>
          <p:cNvSpPr txBox="1"/>
          <p:nvPr/>
        </p:nvSpPr>
        <p:spPr>
          <a:xfrm>
            <a:off x="866851" y="4972507"/>
            <a:ext cx="13816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1016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AI LAYER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819302" y="5210251"/>
            <a:ext cx="4229100" cy="629107"/>
          </a:xfrm>
          <a:prstGeom prst="roundRect">
            <a:avLst>
              <a:gd name="adj" fmla="val 35236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82089" y="5383073"/>
            <a:ext cx="276149" cy="276149"/>
          </a:xfrm>
          <a:prstGeom prst="rect">
            <a:avLst/>
          </a:prstGeom>
        </p:spPr>
      </p:pic>
      <p:sp>
        <p:nvSpPr>
          <p:cNvPr id="74" name="Text 61"/>
          <p:cNvSpPr txBox="1"/>
          <p:nvPr/>
        </p:nvSpPr>
        <p:spPr>
          <a:xfrm>
            <a:off x="2549347" y="5305349"/>
            <a:ext cx="1314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RDBMS / NoSQL</a:t>
            </a:r>
            <a:endParaRPr lang="en-US" sz="1200" dirty="0"/>
          </a:p>
        </p:txBody>
      </p:sp>
      <p:sp>
        <p:nvSpPr>
          <p:cNvPr id="75" name="Text 62"/>
          <p:cNvSpPr txBox="1"/>
          <p:nvPr/>
        </p:nvSpPr>
        <p:spPr>
          <a:xfrm>
            <a:off x="2549347" y="5553151"/>
            <a:ext cx="14740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MySQL, Redis (Cache)</a:t>
            </a:r>
            <a:endParaRPr lang="en-US" sz="900" dirty="0"/>
          </a:p>
        </p:txBody>
      </p:sp>
      <p:sp>
        <p:nvSpPr>
          <p:cNvPr id="76" name="Shape 63"/>
          <p:cNvSpPr/>
          <p:nvPr/>
        </p:nvSpPr>
        <p:spPr>
          <a:xfrm>
            <a:off x="5238598" y="5210251"/>
            <a:ext cx="4229100" cy="629107"/>
          </a:xfrm>
          <a:prstGeom prst="roundRect">
            <a:avLst>
              <a:gd name="adj" fmla="val 35236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464808" y="5383073"/>
            <a:ext cx="276149" cy="276149"/>
          </a:xfrm>
          <a:prstGeom prst="rect">
            <a:avLst/>
          </a:prstGeom>
        </p:spPr>
      </p:pic>
      <p:sp>
        <p:nvSpPr>
          <p:cNvPr id="78" name="Text 64"/>
          <p:cNvSpPr txBox="1"/>
          <p:nvPr/>
        </p:nvSpPr>
        <p:spPr>
          <a:xfrm>
            <a:off x="6932066" y="5305349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Core Engine</a:t>
            </a:r>
            <a:endParaRPr lang="en-US" sz="1200" dirty="0"/>
          </a:p>
        </p:txBody>
      </p:sp>
      <p:sp>
        <p:nvSpPr>
          <p:cNvPr id="79" name="Text 65"/>
          <p:cNvSpPr txBox="1"/>
          <p:nvPr/>
        </p:nvSpPr>
        <p:spPr>
          <a:xfrm>
            <a:off x="6932066" y="5553151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Server, AMI Model</a:t>
            </a:r>
            <a:endParaRPr lang="en-US" sz="900" dirty="0"/>
          </a:p>
        </p:txBody>
      </p:sp>
      <p:sp>
        <p:nvSpPr>
          <p:cNvPr id="80" name="Shape 66"/>
          <p:cNvSpPr/>
          <p:nvPr/>
        </p:nvSpPr>
        <p:spPr>
          <a:xfrm>
            <a:off x="9905695" y="1526134"/>
            <a:ext cx="19202" cy="456285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67"/>
          <p:cNvSpPr txBox="1"/>
          <p:nvPr/>
        </p:nvSpPr>
        <p:spPr>
          <a:xfrm>
            <a:off x="10077602" y="2136953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EXTERNAL</a:t>
            </a:r>
            <a:endParaRPr lang="en-US" sz="900" dirty="0"/>
          </a:p>
        </p:txBody>
      </p:sp>
      <p:sp>
        <p:nvSpPr>
          <p:cNvPr id="82" name="Shape 68"/>
          <p:cNvSpPr/>
          <p:nvPr/>
        </p:nvSpPr>
        <p:spPr>
          <a:xfrm>
            <a:off x="10116007" y="2606040"/>
            <a:ext cx="1505102" cy="828446"/>
          </a:xfrm>
          <a:prstGeom prst="roundRect">
            <a:avLst>
              <a:gd name="adj" fmla="val 202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15"/>
          <a:srcRect l="-428083" r="-428083"/>
          <a:stretch/>
        </p:blipFill>
        <p:spPr>
          <a:xfrm>
            <a:off x="10230307" y="2720340"/>
            <a:ext cx="1276502" cy="133502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10201046" y="2929738"/>
            <a:ext cx="1334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국토부/건축물대장</a:t>
            </a:r>
            <a:endParaRPr lang="en-US" sz="1000" dirty="0"/>
          </a:p>
        </p:txBody>
      </p:sp>
      <p:sp>
        <p:nvSpPr>
          <p:cNvPr id="85" name="Shape 70"/>
          <p:cNvSpPr/>
          <p:nvPr/>
        </p:nvSpPr>
        <p:spPr>
          <a:xfrm>
            <a:off x="10116007" y="3623767"/>
            <a:ext cx="1505102" cy="828446"/>
          </a:xfrm>
          <a:prstGeom prst="roundRect">
            <a:avLst>
              <a:gd name="adj" fmla="val 202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 r:embed="rId16"/>
          <a:srcRect l="-374963" r="-374963"/>
          <a:stretch/>
        </p:blipFill>
        <p:spPr>
          <a:xfrm>
            <a:off x="10230307" y="3738067"/>
            <a:ext cx="1276502" cy="133502"/>
          </a:xfrm>
          <a:prstGeom prst="rect">
            <a:avLst/>
          </a:prstGeom>
        </p:spPr>
      </p:pic>
      <p:sp>
        <p:nvSpPr>
          <p:cNvPr id="87" name="Text 71"/>
          <p:cNvSpPr txBox="1"/>
          <p:nvPr/>
        </p:nvSpPr>
        <p:spPr>
          <a:xfrm>
            <a:off x="10201046" y="3947465"/>
            <a:ext cx="1334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결제/정산 연동</a:t>
            </a:r>
            <a:endParaRPr lang="en-US" sz="1000" dirty="0"/>
          </a:p>
        </p:txBody>
      </p:sp>
      <p:sp>
        <p:nvSpPr>
          <p:cNvPr id="88" name="Shape 72"/>
          <p:cNvSpPr/>
          <p:nvPr/>
        </p:nvSpPr>
        <p:spPr>
          <a:xfrm>
            <a:off x="10116007" y="4640580"/>
            <a:ext cx="1505102" cy="828446"/>
          </a:xfrm>
          <a:prstGeom prst="roundRect">
            <a:avLst>
              <a:gd name="adj" fmla="val 202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9" name="Image 14" descr="preencoded.png"/>
          <p:cNvPicPr>
            <a:picLocks noChangeAspect="1"/>
          </p:cNvPicPr>
          <p:nvPr/>
        </p:nvPicPr>
        <p:blipFill>
          <a:blip r:embed="rId17"/>
          <a:srcRect l="-332467" r="-332467"/>
          <a:stretch/>
        </p:blipFill>
        <p:spPr>
          <a:xfrm>
            <a:off x="10230307" y="4754880"/>
            <a:ext cx="1276502" cy="133502"/>
          </a:xfrm>
          <a:prstGeom prst="rect">
            <a:avLst/>
          </a:prstGeom>
        </p:spPr>
      </p:pic>
      <p:sp>
        <p:nvSpPr>
          <p:cNvPr id="90" name="Text 73"/>
          <p:cNvSpPr txBox="1"/>
          <p:nvPr/>
        </p:nvSpPr>
        <p:spPr>
          <a:xfrm>
            <a:off x="10201046" y="4964278"/>
            <a:ext cx="1334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알림톡/SMS</a:t>
            </a:r>
            <a:endParaRPr lang="en-US" sz="1000" dirty="0"/>
          </a:p>
        </p:txBody>
      </p:sp>
      <p:pic>
        <p:nvPicPr>
          <p:cNvPr id="91" name="Image 15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5086807" y="2706624"/>
            <a:ext cx="114300" cy="152705"/>
          </a:xfrm>
          <a:prstGeom prst="rect">
            <a:avLst/>
          </a:prstGeom>
        </p:spPr>
      </p:pic>
      <p:pic>
        <p:nvPicPr>
          <p:cNvPr id="92" name="Image 16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5086807" y="4828946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867766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4715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3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ROADMAP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353751" y="51023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08. 개발 계획 &amp; 일정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106424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기능 우선 개발(MVP) 후 고도화를 진행하는 </a:t>
            </a:r>
            <a:r>
              <a:rPr lang="en-US" sz="13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마일스톤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 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6263640"/>
            <a:ext cx="11048695" cy="400507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85800" y="6358738"/>
            <a:ext cx="14100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PARALLEL OPS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48026" y="6399886"/>
            <a:ext cx="123444" cy="1234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29077" y="6370625"/>
            <a:ext cx="13789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 구축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09437" y="6399886"/>
            <a:ext cx="123444" cy="1234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90488" y="6370625"/>
            <a:ext cx="17236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테스트(Unit Test) 작성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9337853" y="6399886"/>
            <a:ext cx="105156" cy="1234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499702" y="6370625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 시스템 연동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71500" y="6850685"/>
            <a:ext cx="11048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571500" y="6954926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18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885493" y="1644091"/>
            <a:ext cx="19202" cy="76169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495605" y="1794967"/>
            <a:ext cx="1200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0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95605" y="2083918"/>
            <a:ext cx="1200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 (착수)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095805" y="1644091"/>
            <a:ext cx="952530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2104949" y="1653235"/>
            <a:ext cx="9506102" cy="743407"/>
          </a:xfrm>
          <a:prstGeom prst="roundRect">
            <a:avLst>
              <a:gd name="adj" fmla="val 25231"/>
            </a:avLst>
          </a:prstGeom>
          <a:solidFill>
            <a:srgbClr val="9CA3A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11591849" y="1653235"/>
            <a:ext cx="19202" cy="743407"/>
          </a:xfrm>
          <a:prstGeom prst="roundRect">
            <a:avLst>
              <a:gd name="adj" fmla="val 976821"/>
            </a:avLst>
          </a:prstGeom>
          <a:solidFill>
            <a:srgbClr val="9CA3AF">
              <a:alpha val="30000"/>
            </a:srgbClr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1885493" y="2549347"/>
            <a:ext cx="19202" cy="76169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495605" y="2699309"/>
            <a:ext cx="1200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95605" y="2989174"/>
            <a:ext cx="1200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~ M3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095805" y="2549347"/>
            <a:ext cx="952530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2104949" y="2558491"/>
            <a:ext cx="7610551" cy="743407"/>
          </a:xfrm>
          <a:prstGeom prst="roundRect">
            <a:avLst>
              <a:gd name="adj" fmla="val 25231"/>
            </a:avLst>
          </a:prstGeom>
          <a:solidFill>
            <a:srgbClr val="60A5FA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9696298" y="2558491"/>
            <a:ext cx="19202" cy="743407"/>
          </a:xfrm>
          <a:prstGeom prst="roundRect">
            <a:avLst>
              <a:gd name="adj" fmla="val 976821"/>
            </a:avLst>
          </a:prstGeom>
          <a:solidFill>
            <a:srgbClr val="60A5FA">
              <a:alpha val="3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1885493" y="3453689"/>
            <a:ext cx="19202" cy="76169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495605" y="3604565"/>
            <a:ext cx="1200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495605" y="3893515"/>
            <a:ext cx="1200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M4 ~ M5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2095805" y="3453689"/>
            <a:ext cx="952530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2104949" y="3463747"/>
            <a:ext cx="5705856" cy="743407"/>
          </a:xfrm>
          <a:prstGeom prst="roundRect">
            <a:avLst>
              <a:gd name="adj" fmla="val 25231"/>
            </a:avLst>
          </a:prstGeom>
          <a:solidFill>
            <a:srgbClr val="34D39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791602" y="3463747"/>
            <a:ext cx="19202" cy="743407"/>
          </a:xfrm>
          <a:prstGeom prst="roundRect">
            <a:avLst>
              <a:gd name="adj" fmla="val 976821"/>
            </a:avLst>
          </a:prstGeom>
          <a:solidFill>
            <a:srgbClr val="34D399">
              <a:alpha val="3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1885493" y="4358945"/>
            <a:ext cx="19202" cy="76169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495605" y="4508906"/>
            <a:ext cx="1200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495605" y="4798771"/>
            <a:ext cx="1200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 ~ M7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2095805" y="4358945"/>
            <a:ext cx="952530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2104949" y="4368089"/>
            <a:ext cx="3810305" cy="743407"/>
          </a:xfrm>
          <a:prstGeom prst="roundRect">
            <a:avLst>
              <a:gd name="adj" fmla="val 25231"/>
            </a:avLst>
          </a:prstGeom>
          <a:solidFill>
            <a:srgbClr val="FBBF2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5896051" y="4368089"/>
            <a:ext cx="19202" cy="743407"/>
          </a:xfrm>
          <a:prstGeom prst="roundRect">
            <a:avLst>
              <a:gd name="adj" fmla="val 976821"/>
            </a:avLst>
          </a:prstGeom>
          <a:solidFill>
            <a:srgbClr val="FBBF24">
              <a:alpha val="3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1885493" y="5263286"/>
            <a:ext cx="19202" cy="76169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495605" y="5414162"/>
            <a:ext cx="1200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4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495605" y="5704027"/>
            <a:ext cx="1200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M8 (출시)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2095805" y="5263286"/>
            <a:ext cx="9525305" cy="761695"/>
          </a:xfrm>
          <a:prstGeom prst="roundRect">
            <a:avLst>
              <a:gd name="adj" fmla="val 2401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1"/>
          <p:cNvSpPr/>
          <p:nvPr/>
        </p:nvSpPr>
        <p:spPr>
          <a:xfrm>
            <a:off x="2104949" y="5273345"/>
            <a:ext cx="1904695" cy="743407"/>
          </a:xfrm>
          <a:prstGeom prst="roundRect">
            <a:avLst>
              <a:gd name="adj" fmla="val 25231"/>
            </a:avLst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3990442" y="5273345"/>
            <a:ext cx="19202" cy="743407"/>
          </a:xfrm>
          <a:prstGeom prst="roundRect">
            <a:avLst>
              <a:gd name="adj" fmla="val 976821"/>
            </a:avLst>
          </a:prstGeom>
          <a:solidFill>
            <a:srgbClr val="F472B6">
              <a:alpha val="30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3"/>
          <p:cNvSpPr/>
          <p:nvPr/>
        </p:nvSpPr>
        <p:spPr>
          <a:xfrm>
            <a:off x="2247595" y="1842516"/>
            <a:ext cx="1628546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71954" y="1963217"/>
            <a:ext cx="123444" cy="123444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2572207" y="1842516"/>
            <a:ext cx="1239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 및 기획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4067251" y="1842516"/>
            <a:ext cx="1552651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 t="-2012" b="-2012"/>
          <a:stretch/>
        </p:blipFill>
        <p:spPr>
          <a:xfrm>
            <a:off x="4190695" y="1963217"/>
            <a:ext cx="133502" cy="123444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4400093" y="1842516"/>
            <a:ext cx="11530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스키마/API 설계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5806440" y="1842516"/>
            <a:ext cx="1552651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30798" y="1963217"/>
            <a:ext cx="123444" cy="123444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6130138" y="1842516"/>
            <a:ext cx="11622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프로토타이핑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2247595" y="2746858"/>
            <a:ext cx="1561795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371954" y="2868473"/>
            <a:ext cx="123444" cy="123444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2572207" y="2746858"/>
            <a:ext cx="11722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API 연동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3991356" y="2746858"/>
            <a:ext cx="1476756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114800" y="2868473"/>
            <a:ext cx="123444" cy="123444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4315054" y="2746858"/>
            <a:ext cx="10863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현황 대시보드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5654650" y="2746858"/>
            <a:ext cx="1638605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12"/>
          <a:srcRect t="-524" b="-524"/>
          <a:stretch/>
        </p:blipFill>
        <p:spPr>
          <a:xfrm>
            <a:off x="5779008" y="2868473"/>
            <a:ext cx="152705" cy="123444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6007608" y="2746858"/>
            <a:ext cx="1219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임대인 회원가입/인증</a:t>
            </a:r>
            <a:endParaRPr lang="en-US" sz="1000" dirty="0"/>
          </a:p>
        </p:txBody>
      </p:sp>
      <p:sp>
        <p:nvSpPr>
          <p:cNvPr id="67" name="Shape 55"/>
          <p:cNvSpPr/>
          <p:nvPr/>
        </p:nvSpPr>
        <p:spPr>
          <a:xfrm>
            <a:off x="2247595" y="3652114"/>
            <a:ext cx="1809598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13"/>
          <a:srcRect l="-1358" r="-1358"/>
          <a:stretch/>
        </p:blipFill>
        <p:spPr>
          <a:xfrm>
            <a:off x="2371954" y="3772814"/>
            <a:ext cx="95098" cy="123444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2542946" y="3652114"/>
            <a:ext cx="1448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점검 리포트 (App)</a:t>
            </a:r>
            <a:endParaRPr lang="en-US" sz="1000" dirty="0"/>
          </a:p>
        </p:txBody>
      </p:sp>
      <p:sp>
        <p:nvSpPr>
          <p:cNvPr id="70" name="Shape 57"/>
          <p:cNvSpPr/>
          <p:nvPr/>
        </p:nvSpPr>
        <p:spPr>
          <a:xfrm>
            <a:off x="4246474" y="3652114"/>
            <a:ext cx="1457554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4369918" y="3772814"/>
            <a:ext cx="105156" cy="123444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4550969" y="3652114"/>
            <a:ext cx="10863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CRM / 알림</a:t>
            </a:r>
            <a:endParaRPr lang="en-US" sz="1000" dirty="0"/>
          </a:p>
        </p:txBody>
      </p:sp>
      <p:sp>
        <p:nvSpPr>
          <p:cNvPr id="73" name="Shape 59"/>
          <p:cNvSpPr/>
          <p:nvPr/>
        </p:nvSpPr>
        <p:spPr>
          <a:xfrm>
            <a:off x="5890565" y="3652114"/>
            <a:ext cx="1638605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 r:embed="rId15"/>
          <a:srcRect t="-524" b="-524"/>
          <a:stretch/>
        </p:blipFill>
        <p:spPr>
          <a:xfrm>
            <a:off x="6014009" y="3772814"/>
            <a:ext cx="152705" cy="123444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6242609" y="3652114"/>
            <a:ext cx="1219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커뮤니티/게시판 기능</a:t>
            </a:r>
            <a:endParaRPr lang="en-US" sz="1000" dirty="0"/>
          </a:p>
        </p:txBody>
      </p:sp>
      <p:sp>
        <p:nvSpPr>
          <p:cNvPr id="76" name="Shape 61"/>
          <p:cNvSpPr/>
          <p:nvPr/>
        </p:nvSpPr>
        <p:spPr>
          <a:xfrm>
            <a:off x="2247595" y="4556455"/>
            <a:ext cx="1723644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7" name="Image 13" descr="preencoded.png"/>
          <p:cNvPicPr>
            <a:picLocks noChangeAspect="1"/>
          </p:cNvPicPr>
          <p:nvPr/>
        </p:nvPicPr>
        <p:blipFill>
          <a:blip r:embed="rId16"/>
          <a:srcRect l="-1358" r="-1358"/>
          <a:stretch/>
        </p:blipFill>
        <p:spPr>
          <a:xfrm>
            <a:off x="2371954" y="4678070"/>
            <a:ext cx="95098" cy="123444"/>
          </a:xfrm>
          <a:prstGeom prst="rect">
            <a:avLst/>
          </a:prstGeom>
        </p:spPr>
      </p:pic>
      <p:sp>
        <p:nvSpPr>
          <p:cNvPr id="78" name="Text 62"/>
          <p:cNvSpPr txBox="1"/>
          <p:nvPr/>
        </p:nvSpPr>
        <p:spPr>
          <a:xfrm>
            <a:off x="2542946" y="4556455"/>
            <a:ext cx="13624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Settlement Logic 구현</a:t>
            </a:r>
            <a:endParaRPr lang="en-US" sz="1000" dirty="0"/>
          </a:p>
        </p:txBody>
      </p:sp>
      <p:sp>
        <p:nvSpPr>
          <p:cNvPr id="79" name="Shape 63"/>
          <p:cNvSpPr/>
          <p:nvPr/>
        </p:nvSpPr>
        <p:spPr>
          <a:xfrm>
            <a:off x="4159606" y="4556455"/>
            <a:ext cx="1543507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14" descr="preencoded.png"/>
          <p:cNvPicPr>
            <a:picLocks noChangeAspect="1"/>
          </p:cNvPicPr>
          <p:nvPr/>
        </p:nvPicPr>
        <p:blipFill>
          <a:blip r:embed="rId17"/>
          <a:srcRect t="-2012" b="-2012"/>
          <a:stretch/>
        </p:blipFill>
        <p:spPr>
          <a:xfrm>
            <a:off x="4283050" y="4678070"/>
            <a:ext cx="133502" cy="123444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4492447" y="4556455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OCR 엔진 고도화</a:t>
            </a:r>
            <a:endParaRPr lang="en-US" sz="1000" dirty="0"/>
          </a:p>
        </p:txBody>
      </p:sp>
      <p:sp>
        <p:nvSpPr>
          <p:cNvPr id="82" name="Shape 65"/>
          <p:cNvSpPr/>
          <p:nvPr/>
        </p:nvSpPr>
        <p:spPr>
          <a:xfrm>
            <a:off x="5888736" y="4556455"/>
            <a:ext cx="1609344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3" name="Image 15" descr="preencoded.png"/>
          <p:cNvPicPr>
            <a:picLocks noChangeAspect="1"/>
          </p:cNvPicPr>
          <p:nvPr/>
        </p:nvPicPr>
        <p:blipFill>
          <a:blip r:embed="rId18"/>
          <a:srcRect t="-2012" b="-2012"/>
          <a:stretch/>
        </p:blipFill>
        <p:spPr>
          <a:xfrm>
            <a:off x="6013094" y="4678070"/>
            <a:ext cx="133502" cy="123444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6222492" y="455645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 결제 및 정산 연동</a:t>
            </a:r>
            <a:endParaRPr lang="en-US" sz="1000" dirty="0"/>
          </a:p>
        </p:txBody>
      </p:sp>
      <p:sp>
        <p:nvSpPr>
          <p:cNvPr id="85" name="Shape 67"/>
          <p:cNvSpPr/>
          <p:nvPr/>
        </p:nvSpPr>
        <p:spPr>
          <a:xfrm>
            <a:off x="2247595" y="5461711"/>
            <a:ext cx="1380744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6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371954" y="5582412"/>
            <a:ext cx="123444" cy="123444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2572207" y="5461711"/>
            <a:ext cx="9912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 (QA)</a:t>
            </a:r>
            <a:endParaRPr lang="en-US" sz="1000" dirty="0"/>
          </a:p>
        </p:txBody>
      </p:sp>
      <p:sp>
        <p:nvSpPr>
          <p:cNvPr id="88" name="Shape 69"/>
          <p:cNvSpPr/>
          <p:nvPr/>
        </p:nvSpPr>
        <p:spPr>
          <a:xfrm>
            <a:off x="3814877" y="5461711"/>
            <a:ext cx="961949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9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938321" y="5582412"/>
            <a:ext cx="123444" cy="123444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4138574" y="5461711"/>
            <a:ext cx="571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점검</a:t>
            </a:r>
            <a:endParaRPr lang="en-US" sz="1000" dirty="0"/>
          </a:p>
        </p:txBody>
      </p:sp>
      <p:sp>
        <p:nvSpPr>
          <p:cNvPr id="91" name="Shape 71"/>
          <p:cNvSpPr/>
          <p:nvPr/>
        </p:nvSpPr>
        <p:spPr>
          <a:xfrm>
            <a:off x="4966106" y="5461711"/>
            <a:ext cx="1495044" cy="371246"/>
          </a:xfrm>
          <a:prstGeom prst="roundRect">
            <a:avLst>
              <a:gd name="adj" fmla="val 75786"/>
            </a:avLst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2" name="Image 18" descr="preencoded.png"/>
          <p:cNvPicPr>
            <a:picLocks noChangeAspect="1"/>
          </p:cNvPicPr>
          <p:nvPr/>
        </p:nvPicPr>
        <p:blipFill>
          <a:blip r:embed="rId21"/>
          <a:srcRect t="-1359" b="-1359"/>
          <a:stretch/>
        </p:blipFill>
        <p:spPr>
          <a:xfrm>
            <a:off x="5089550" y="5582412"/>
            <a:ext cx="105156" cy="123444"/>
          </a:xfrm>
          <a:prstGeom prst="rect">
            <a:avLst/>
          </a:prstGeom>
        </p:spPr>
      </p:pic>
      <p:sp>
        <p:nvSpPr>
          <p:cNvPr id="93" name="Text 72"/>
          <p:cNvSpPr txBox="1"/>
          <p:nvPr/>
        </p:nvSpPr>
        <p:spPr>
          <a:xfrm>
            <a:off x="5270602" y="5461711"/>
            <a:ext cx="11247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스토어 심사 및 배포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-952805" y="3047695"/>
            <a:ext cx="5715000" cy="57150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867766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71500" y="381305"/>
            <a:ext cx="5934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3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TEAM &amp; ORGANIZATION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452506" y="510235"/>
            <a:ext cx="13944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09. 팀 구성 및 역할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1106424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전문 기술 기업의 </a:t>
            </a:r>
            <a:r>
              <a:rPr lang="en-US" sz="13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노하우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학생 연구원의 </a:t>
            </a:r>
            <a:r>
              <a:rPr lang="en-US" sz="13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창의성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결합된 산학 협력 팀 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1500" y="1644091"/>
            <a:ext cx="2857500" cy="3981298"/>
          </a:xfrm>
          <a:prstGeom prst="roundRect">
            <a:avLst>
              <a:gd name="adj" fmla="val 25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4305" y="1939442"/>
            <a:ext cx="952805" cy="95280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800454" y="2187245"/>
            <a:ext cx="400507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02766" y="3082442"/>
            <a:ext cx="1797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(주)오드레몬오리진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36930" y="3404311"/>
            <a:ext cx="19312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Software Development Co.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71754" y="3789274"/>
            <a:ext cx="2457907" cy="1438351"/>
          </a:xfrm>
          <a:prstGeom prst="roundRect">
            <a:avLst>
              <a:gd name="adj" fmla="val 6736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6032" r="-16032"/>
          <a:stretch/>
        </p:blipFill>
        <p:spPr>
          <a:xfrm>
            <a:off x="914400" y="3960266"/>
            <a:ext cx="142646" cy="1234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52144" y="3931920"/>
            <a:ext cx="782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대표: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박미연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4087" b="-4087"/>
          <a:stretch/>
        </p:blipFill>
        <p:spPr>
          <a:xfrm>
            <a:off x="914400" y="4219956"/>
            <a:ext cx="142646" cy="1234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52144" y="4190695"/>
            <a:ext cx="7351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임직원:</a:t>
            </a: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5명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l="-27037" r="-27037"/>
          <a:stretch/>
        </p:blipFill>
        <p:spPr>
          <a:xfrm>
            <a:off x="914400" y="4478731"/>
            <a:ext cx="142646" cy="1234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52144" y="4450385"/>
            <a:ext cx="14383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경기도 고양시 항공대학로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한국항공대학교 산학협력관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7778" r="-7778"/>
          <a:stretch/>
        </p:blipFill>
        <p:spPr>
          <a:xfrm>
            <a:off x="914400" y="4921301"/>
            <a:ext cx="142646" cy="1234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152144" y="4892040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www.oddlemon.co.kr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4048963" y="1644091"/>
            <a:ext cx="76864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MEMBERS (2명)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3715207" y="1644091"/>
            <a:ext cx="5950001" cy="9144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l="-3882" r="-3882"/>
          <a:stretch/>
        </p:blipFill>
        <p:spPr>
          <a:xfrm>
            <a:off x="3715207" y="1680667"/>
            <a:ext cx="161849" cy="133502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3715207" y="1944929"/>
            <a:ext cx="3857854" cy="940918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3914546" y="2129638"/>
            <a:ext cx="571500" cy="571500"/>
          </a:xfrm>
          <a:prstGeom prst="ellipse">
            <a:avLst/>
          </a:prstGeom>
          <a:solidFill>
            <a:srgbClr val="A78BFA">
              <a:alpha val="20000"/>
            </a:srgbClr>
          </a:solidFill>
          <a:ln w="254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4058107" y="2301545"/>
            <a:ext cx="286207" cy="22860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677156" y="2097634"/>
            <a:ext cx="18196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 / CTO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4677156" y="2310689"/>
            <a:ext cx="18827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노현철 이사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4677156" y="2562149"/>
            <a:ext cx="21287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매니징, 기술 아키텍처 설계</a:t>
            </a:r>
            <a:endParaRPr lang="en-US" sz="9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7763256" y="1944929"/>
            <a:ext cx="3857854" cy="940918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7962595" y="2129638"/>
            <a:ext cx="571500" cy="571500"/>
          </a:xfrm>
          <a:prstGeom prst="ellipse">
            <a:avLst/>
          </a:prstGeom>
          <a:solidFill>
            <a:srgbClr val="A78BFA">
              <a:alpha val="20000"/>
            </a:srgbClr>
          </a:solidFill>
          <a:ln w="254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134502" y="2301545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725205" y="2097634"/>
            <a:ext cx="20162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총괄</a:t>
            </a:r>
            <a:endParaRPr lang="en-US" sz="1000" dirty="0"/>
          </a:p>
        </p:txBody>
      </p:sp>
      <p:sp>
        <p:nvSpPr>
          <p:cNvPr id="37" name="Text 23"/>
          <p:cNvSpPr txBox="1"/>
          <p:nvPr/>
        </p:nvSpPr>
        <p:spPr>
          <a:xfrm>
            <a:off x="8725205" y="2310689"/>
            <a:ext cx="20162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정영란 실장</a:t>
            </a:r>
            <a:endParaRPr lang="en-US" sz="1300" dirty="0"/>
          </a:p>
        </p:txBody>
      </p:sp>
      <p:sp>
        <p:nvSpPr>
          <p:cNvPr id="38" name="Text 24"/>
          <p:cNvSpPr txBox="1"/>
          <p:nvPr/>
        </p:nvSpPr>
        <p:spPr>
          <a:xfrm>
            <a:off x="8725205" y="2562149"/>
            <a:ext cx="23308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UX/UI 디자인 디렉팅, 브랜드 경험 설계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4067251" y="3076956"/>
            <a:ext cx="76681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STUDENT RESEARCHERS (9명)</a:t>
            </a:r>
            <a:endParaRPr lang="en-US" sz="1000" dirty="0"/>
          </a:p>
        </p:txBody>
      </p:sp>
      <p:sp>
        <p:nvSpPr>
          <p:cNvPr id="40" name="Shape 26"/>
          <p:cNvSpPr/>
          <p:nvPr/>
        </p:nvSpPr>
        <p:spPr>
          <a:xfrm>
            <a:off x="3715207" y="3076956"/>
            <a:ext cx="5148072" cy="9144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4"/>
          <a:srcRect l="-4247" r="-4247"/>
          <a:stretch/>
        </p:blipFill>
        <p:spPr>
          <a:xfrm>
            <a:off x="3715207" y="3112618"/>
            <a:ext cx="181051" cy="133502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3715207" y="3377794"/>
            <a:ext cx="2542946" cy="2247595"/>
          </a:xfrm>
          <a:prstGeom prst="roundRect">
            <a:avLst>
              <a:gd name="adj" fmla="val 34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8"/>
          <p:cNvSpPr/>
          <p:nvPr/>
        </p:nvSpPr>
        <p:spPr>
          <a:xfrm>
            <a:off x="3866998" y="3969410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29"/>
          <p:cNvSpPr/>
          <p:nvPr/>
        </p:nvSpPr>
        <p:spPr>
          <a:xfrm>
            <a:off x="3866998" y="353049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962095" y="3625596"/>
            <a:ext cx="152705" cy="152705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4304995" y="3592678"/>
            <a:ext cx="748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/ PM</a:t>
            </a:r>
            <a:endParaRPr lang="en-US" sz="1100" dirty="0"/>
          </a:p>
        </p:txBody>
      </p:sp>
      <p:sp>
        <p:nvSpPr>
          <p:cNvPr id="47" name="Shape 31"/>
          <p:cNvSpPr/>
          <p:nvPr/>
        </p:nvSpPr>
        <p:spPr>
          <a:xfrm>
            <a:off x="5792724" y="3602736"/>
            <a:ext cx="314554" cy="200254"/>
          </a:xfrm>
          <a:prstGeom prst="roundRect">
            <a:avLst>
              <a:gd name="adj" fmla="val 43487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2"/>
          <p:cNvSpPr txBox="1"/>
          <p:nvPr/>
        </p:nvSpPr>
        <p:spPr>
          <a:xfrm>
            <a:off x="5792724" y="3602736"/>
            <a:ext cx="3913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3명</a:t>
            </a:r>
            <a:endParaRPr lang="en-US" sz="800" dirty="0"/>
          </a:p>
        </p:txBody>
      </p:sp>
      <p:sp>
        <p:nvSpPr>
          <p:cNvPr id="49" name="Shape 33"/>
          <p:cNvSpPr/>
          <p:nvPr/>
        </p:nvSpPr>
        <p:spPr>
          <a:xfrm>
            <a:off x="3866998" y="4473245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4"/>
          <p:cNvSpPr txBox="1"/>
          <p:nvPr/>
        </p:nvSpPr>
        <p:spPr>
          <a:xfrm>
            <a:off x="4057193" y="4120286"/>
            <a:ext cx="21250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6"/>
          <a:srcRect l="-1677" r="-1677"/>
          <a:stretch/>
        </p:blipFill>
        <p:spPr>
          <a:xfrm>
            <a:off x="3866998" y="4241902"/>
            <a:ext cx="95098" cy="105156"/>
          </a:xfrm>
          <a:prstGeom prst="rect">
            <a:avLst/>
          </a:prstGeom>
        </p:spPr>
      </p:pic>
      <p:sp>
        <p:nvSpPr>
          <p:cNvPr id="52" name="Shape 35"/>
          <p:cNvSpPr/>
          <p:nvPr/>
        </p:nvSpPr>
        <p:spPr>
          <a:xfrm>
            <a:off x="3866998" y="4829861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6"/>
          <p:cNvSpPr txBox="1"/>
          <p:nvPr/>
        </p:nvSpPr>
        <p:spPr>
          <a:xfrm>
            <a:off x="4057193" y="4476902"/>
            <a:ext cx="21250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관리</a:t>
            </a:r>
            <a:endParaRPr lang="en-US" sz="10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6"/>
          <a:srcRect l="-1677" r="-1677"/>
          <a:stretch/>
        </p:blipFill>
        <p:spPr>
          <a:xfrm>
            <a:off x="3866998" y="4597603"/>
            <a:ext cx="95098" cy="105156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4057193" y="4833518"/>
            <a:ext cx="21250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수립</a:t>
            </a:r>
            <a:endParaRPr lang="en-US" sz="100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6"/>
          <a:srcRect l="-1677" r="-1677"/>
          <a:stretch/>
        </p:blipFill>
        <p:spPr>
          <a:xfrm>
            <a:off x="3866998" y="4954219"/>
            <a:ext cx="95098" cy="105156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6397142" y="3377794"/>
            <a:ext cx="2542946" cy="2247595"/>
          </a:xfrm>
          <a:prstGeom prst="roundRect">
            <a:avLst>
              <a:gd name="adj" fmla="val 34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39"/>
          <p:cNvSpPr/>
          <p:nvPr/>
        </p:nvSpPr>
        <p:spPr>
          <a:xfrm>
            <a:off x="6549847" y="3969410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0"/>
          <p:cNvSpPr/>
          <p:nvPr/>
        </p:nvSpPr>
        <p:spPr>
          <a:xfrm>
            <a:off x="6549847" y="353049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60A5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7"/>
          <a:srcRect t="-180" b="-180"/>
          <a:stretch/>
        </p:blipFill>
        <p:spPr>
          <a:xfrm>
            <a:off x="6625742" y="3625596"/>
            <a:ext cx="190195" cy="152705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6987845" y="3592678"/>
            <a:ext cx="12271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/ App 개발</a:t>
            </a:r>
            <a:endParaRPr lang="en-US" sz="1100" dirty="0"/>
          </a:p>
        </p:txBody>
      </p:sp>
      <p:sp>
        <p:nvSpPr>
          <p:cNvPr id="62" name="Shape 42"/>
          <p:cNvSpPr/>
          <p:nvPr/>
        </p:nvSpPr>
        <p:spPr>
          <a:xfrm>
            <a:off x="8475574" y="3602736"/>
            <a:ext cx="314554" cy="200254"/>
          </a:xfrm>
          <a:prstGeom prst="roundRect">
            <a:avLst>
              <a:gd name="adj" fmla="val 43487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3"/>
          <p:cNvSpPr txBox="1"/>
          <p:nvPr/>
        </p:nvSpPr>
        <p:spPr>
          <a:xfrm>
            <a:off x="8475574" y="3602736"/>
            <a:ext cx="3913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3명</a:t>
            </a:r>
            <a:endParaRPr lang="en-US" sz="800" dirty="0"/>
          </a:p>
        </p:txBody>
      </p:sp>
      <p:sp>
        <p:nvSpPr>
          <p:cNvPr id="64" name="Shape 44"/>
          <p:cNvSpPr/>
          <p:nvPr/>
        </p:nvSpPr>
        <p:spPr>
          <a:xfrm>
            <a:off x="6549847" y="4473245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5"/>
          <p:cNvSpPr txBox="1"/>
          <p:nvPr/>
        </p:nvSpPr>
        <p:spPr>
          <a:xfrm>
            <a:off x="6740042" y="4120286"/>
            <a:ext cx="21250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000" dirty="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8"/>
          <a:srcRect l="-1677" r="-1677"/>
          <a:stretch/>
        </p:blipFill>
        <p:spPr>
          <a:xfrm>
            <a:off x="6549847" y="4241902"/>
            <a:ext cx="95098" cy="105156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6549847" y="4829861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47"/>
          <p:cNvSpPr txBox="1"/>
          <p:nvPr/>
        </p:nvSpPr>
        <p:spPr>
          <a:xfrm>
            <a:off x="6740042" y="4476902"/>
            <a:ext cx="21250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API</a:t>
            </a:r>
            <a:endParaRPr lang="en-US" sz="1000" dirty="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18"/>
          <a:srcRect l="-1677" r="-1677"/>
          <a:stretch/>
        </p:blipFill>
        <p:spPr>
          <a:xfrm>
            <a:off x="6549847" y="4597603"/>
            <a:ext cx="95098" cy="105156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6740042" y="4833518"/>
            <a:ext cx="21250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앱</a:t>
            </a:r>
            <a:endParaRPr lang="en-US" sz="1000" dirty="0"/>
          </a:p>
        </p:txBody>
      </p:sp>
      <p:pic>
        <p:nvPicPr>
          <p:cNvPr id="71" name="Image 20" descr="preencoded.png"/>
          <p:cNvPicPr>
            <a:picLocks noChangeAspect="1"/>
          </p:cNvPicPr>
          <p:nvPr/>
        </p:nvPicPr>
        <p:blipFill>
          <a:blip r:embed="rId18"/>
          <a:srcRect l="-1677" r="-1677"/>
          <a:stretch/>
        </p:blipFill>
        <p:spPr>
          <a:xfrm>
            <a:off x="6549847" y="4954219"/>
            <a:ext cx="95098" cy="105156"/>
          </a:xfrm>
          <a:prstGeom prst="rect">
            <a:avLst/>
          </a:prstGeom>
        </p:spPr>
      </p:pic>
      <p:sp>
        <p:nvSpPr>
          <p:cNvPr id="72" name="Shape 49"/>
          <p:cNvSpPr/>
          <p:nvPr/>
        </p:nvSpPr>
        <p:spPr>
          <a:xfrm>
            <a:off x="9080906" y="3377794"/>
            <a:ext cx="2542946" cy="2247595"/>
          </a:xfrm>
          <a:prstGeom prst="roundRect">
            <a:avLst>
              <a:gd name="adj" fmla="val 34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50"/>
          <p:cNvSpPr/>
          <p:nvPr/>
        </p:nvSpPr>
        <p:spPr>
          <a:xfrm>
            <a:off x="9232697" y="3969410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51"/>
          <p:cNvSpPr/>
          <p:nvPr/>
        </p:nvSpPr>
        <p:spPr>
          <a:xfrm>
            <a:off x="9232697" y="353049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21" descr="preencoded.png"/>
          <p:cNvPicPr>
            <a:picLocks noChangeAspect="1"/>
          </p:cNvPicPr>
          <p:nvPr/>
        </p:nvPicPr>
        <p:blipFill>
          <a:blip r:embed="rId19"/>
          <a:srcRect t="-180" b="-180"/>
          <a:stretch/>
        </p:blipFill>
        <p:spPr>
          <a:xfrm>
            <a:off x="9309506" y="3625596"/>
            <a:ext cx="190195" cy="152705"/>
          </a:xfrm>
          <a:prstGeom prst="rect">
            <a:avLst/>
          </a:prstGeom>
        </p:spPr>
      </p:pic>
      <p:sp>
        <p:nvSpPr>
          <p:cNvPr id="76" name="Text 52"/>
          <p:cNvSpPr txBox="1"/>
          <p:nvPr/>
        </p:nvSpPr>
        <p:spPr>
          <a:xfrm>
            <a:off x="9670694" y="3592678"/>
            <a:ext cx="816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/ 데이터</a:t>
            </a:r>
            <a:endParaRPr lang="en-US" sz="1100" dirty="0"/>
          </a:p>
        </p:txBody>
      </p:sp>
      <p:sp>
        <p:nvSpPr>
          <p:cNvPr id="77" name="Shape 53"/>
          <p:cNvSpPr/>
          <p:nvPr/>
        </p:nvSpPr>
        <p:spPr>
          <a:xfrm>
            <a:off x="11158423" y="3602736"/>
            <a:ext cx="314554" cy="200254"/>
          </a:xfrm>
          <a:prstGeom prst="roundRect">
            <a:avLst>
              <a:gd name="adj" fmla="val 43487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54"/>
          <p:cNvSpPr txBox="1"/>
          <p:nvPr/>
        </p:nvSpPr>
        <p:spPr>
          <a:xfrm>
            <a:off x="11158423" y="3602736"/>
            <a:ext cx="3913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3명</a:t>
            </a:r>
            <a:endParaRPr lang="en-US" sz="800" dirty="0"/>
          </a:p>
        </p:txBody>
      </p:sp>
      <p:sp>
        <p:nvSpPr>
          <p:cNvPr id="79" name="Shape 55"/>
          <p:cNvSpPr/>
          <p:nvPr/>
        </p:nvSpPr>
        <p:spPr>
          <a:xfrm>
            <a:off x="9232697" y="4473245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56"/>
          <p:cNvSpPr txBox="1"/>
          <p:nvPr/>
        </p:nvSpPr>
        <p:spPr>
          <a:xfrm>
            <a:off x="9422892" y="4120286"/>
            <a:ext cx="21250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엔진 최적화</a:t>
            </a:r>
            <a:endParaRPr lang="en-US" sz="1000" dirty="0"/>
          </a:p>
        </p:txBody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20"/>
          <a:srcRect l="-1677" r="-1677"/>
          <a:stretch/>
        </p:blipFill>
        <p:spPr>
          <a:xfrm>
            <a:off x="9232697" y="4241902"/>
            <a:ext cx="95098" cy="105156"/>
          </a:xfrm>
          <a:prstGeom prst="rect">
            <a:avLst/>
          </a:prstGeom>
        </p:spPr>
      </p:pic>
      <p:sp>
        <p:nvSpPr>
          <p:cNvPr id="82" name="Shape 57"/>
          <p:cNvSpPr/>
          <p:nvPr/>
        </p:nvSpPr>
        <p:spPr>
          <a:xfrm>
            <a:off x="9232697" y="4829861"/>
            <a:ext cx="2238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58"/>
          <p:cNvSpPr txBox="1"/>
          <p:nvPr/>
        </p:nvSpPr>
        <p:spPr>
          <a:xfrm>
            <a:off x="9422892" y="4476902"/>
            <a:ext cx="21250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공공데이터 연동</a:t>
            </a:r>
            <a:endParaRPr lang="en-US" sz="1000" dirty="0"/>
          </a:p>
        </p:txBody>
      </p:sp>
      <p:pic>
        <p:nvPicPr>
          <p:cNvPr id="84" name="Image 23" descr="preencoded.png"/>
          <p:cNvPicPr>
            <a:picLocks noChangeAspect="1"/>
          </p:cNvPicPr>
          <p:nvPr/>
        </p:nvPicPr>
        <p:blipFill>
          <a:blip r:embed="rId20"/>
          <a:srcRect l="-1677" r="-1677"/>
          <a:stretch/>
        </p:blipFill>
        <p:spPr>
          <a:xfrm>
            <a:off x="9232697" y="4597603"/>
            <a:ext cx="95098" cy="105156"/>
          </a:xfrm>
          <a:prstGeom prst="rect">
            <a:avLst/>
          </a:prstGeom>
        </p:spPr>
      </p:pic>
      <p:sp>
        <p:nvSpPr>
          <p:cNvPr id="85" name="Text 59"/>
          <p:cNvSpPr txBox="1"/>
          <p:nvPr/>
        </p:nvSpPr>
        <p:spPr>
          <a:xfrm>
            <a:off x="9422892" y="4833518"/>
            <a:ext cx="21250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구현</a:t>
            </a:r>
            <a:endParaRPr lang="en-US" sz="1000" dirty="0"/>
          </a:p>
        </p:txBody>
      </p:sp>
      <p:pic>
        <p:nvPicPr>
          <p:cNvPr id="86" name="Image 24" descr="preencoded.png"/>
          <p:cNvPicPr>
            <a:picLocks noChangeAspect="1"/>
          </p:cNvPicPr>
          <p:nvPr/>
        </p:nvPicPr>
        <p:blipFill>
          <a:blip r:embed="rId20"/>
          <a:srcRect l="-1677" r="-1677"/>
          <a:stretch/>
        </p:blipFill>
        <p:spPr>
          <a:xfrm>
            <a:off x="9232697" y="4954219"/>
            <a:ext cx="95098" cy="105156"/>
          </a:xfrm>
          <a:prstGeom prst="rect">
            <a:avLst/>
          </a:prstGeom>
        </p:spPr>
      </p:pic>
      <p:sp>
        <p:nvSpPr>
          <p:cNvPr id="87" name="Shape 60"/>
          <p:cNvSpPr/>
          <p:nvPr/>
        </p:nvSpPr>
        <p:spPr>
          <a:xfrm>
            <a:off x="571500" y="5716829"/>
            <a:ext cx="11048695" cy="466344"/>
          </a:xfrm>
          <a:prstGeom prst="roundRect">
            <a:avLst>
              <a:gd name="adj" fmla="val 64026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61"/>
          <p:cNvSpPr txBox="1"/>
          <p:nvPr/>
        </p:nvSpPr>
        <p:spPr>
          <a:xfrm>
            <a:off x="4153205" y="5843930"/>
            <a:ext cx="13834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Participants:</a:t>
            </a:r>
            <a:endParaRPr lang="en-US" sz="1000" dirty="0"/>
          </a:p>
        </p:txBody>
      </p:sp>
      <p:sp>
        <p:nvSpPr>
          <p:cNvPr id="89" name="Text 62"/>
          <p:cNvSpPr txBox="1"/>
          <p:nvPr/>
        </p:nvSpPr>
        <p:spPr>
          <a:xfrm>
            <a:off x="5385816" y="5821985"/>
            <a:ext cx="286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300" dirty="0"/>
          </a:p>
        </p:txBody>
      </p:sp>
      <p:sp>
        <p:nvSpPr>
          <p:cNvPr id="90" name="Text 63"/>
          <p:cNvSpPr txBox="1"/>
          <p:nvPr/>
        </p:nvSpPr>
        <p:spPr>
          <a:xfrm>
            <a:off x="5666537" y="584393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sz="1000" dirty="0"/>
          </a:p>
        </p:txBody>
      </p:sp>
      <p:sp>
        <p:nvSpPr>
          <p:cNvPr id="91" name="Text 64"/>
          <p:cNvSpPr txBox="1"/>
          <p:nvPr/>
        </p:nvSpPr>
        <p:spPr>
          <a:xfrm>
            <a:off x="6078017" y="5821985"/>
            <a:ext cx="114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000" dirty="0"/>
          </a:p>
        </p:txBody>
      </p:sp>
      <p:sp>
        <p:nvSpPr>
          <p:cNvPr id="92" name="Text 65"/>
          <p:cNvSpPr txBox="1"/>
          <p:nvPr/>
        </p:nvSpPr>
        <p:spPr>
          <a:xfrm>
            <a:off x="6400800" y="5843930"/>
            <a:ext cx="5440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Expert:</a:t>
            </a:r>
            <a:endParaRPr lang="en-US" sz="1000" dirty="0"/>
          </a:p>
        </p:txBody>
      </p:sp>
      <p:sp>
        <p:nvSpPr>
          <p:cNvPr id="93" name="Text 66"/>
          <p:cNvSpPr txBox="1"/>
          <p:nvPr/>
        </p:nvSpPr>
        <p:spPr>
          <a:xfrm>
            <a:off x="6925666" y="5821985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94" name="Text 67"/>
          <p:cNvSpPr txBox="1"/>
          <p:nvPr/>
        </p:nvSpPr>
        <p:spPr>
          <a:xfrm>
            <a:off x="7313371" y="5843930"/>
            <a:ext cx="6574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Student:</a:t>
            </a:r>
            <a:endParaRPr lang="en-US" sz="1000" dirty="0"/>
          </a:p>
        </p:txBody>
      </p:sp>
      <p:sp>
        <p:nvSpPr>
          <p:cNvPr id="95" name="Text 68"/>
          <p:cNvSpPr txBox="1"/>
          <p:nvPr/>
        </p:nvSpPr>
        <p:spPr>
          <a:xfrm>
            <a:off x="7936992" y="5821985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300" dirty="0"/>
          </a:p>
        </p:txBody>
      </p:sp>
      <p:sp>
        <p:nvSpPr>
          <p:cNvPr id="96" name="Shape 69"/>
          <p:cNvSpPr/>
          <p:nvPr/>
        </p:nvSpPr>
        <p:spPr>
          <a:xfrm>
            <a:off x="571500" y="6177686"/>
            <a:ext cx="11048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70"/>
          <p:cNvSpPr txBox="1"/>
          <p:nvPr/>
        </p:nvSpPr>
        <p:spPr>
          <a:xfrm>
            <a:off x="571500" y="6282842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2286000" y="3047695"/>
            <a:ext cx="7619695" cy="3810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867766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6087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53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EFFECT &amp; CONCLUSION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0248595" y="510235"/>
            <a:ext cx="16578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 기대효과 및 마무리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76402" y="1106424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버틀러(Butler)는 단순한 관리 도구를 넘어, </a:t>
            </a: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자산 관리의 새로운 표준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제시합니다. 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" y="1644091"/>
            <a:ext cx="3562502" cy="2085746"/>
          </a:xfrm>
          <a:prstGeom prst="roundRect">
            <a:avLst>
              <a:gd name="adj" fmla="val 48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063801" y="1844345"/>
            <a:ext cx="571500" cy="571500"/>
          </a:xfrm>
          <a:prstGeom prst="ellipse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2206447" y="2015338"/>
            <a:ext cx="286207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86230" y="2558491"/>
            <a:ext cx="193121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갈등 비용 감소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905049"/>
            <a:ext cx="24195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기반의 투명한 수선비 기준 제시로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임대인-임차인 간 감정 소모와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분쟁을 획기적으로 줄입니다. 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317797" y="1644091"/>
            <a:ext cx="3562502" cy="2085746"/>
          </a:xfrm>
          <a:prstGeom prst="roundRect">
            <a:avLst>
              <a:gd name="adj" fmla="val 48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5810098" y="1844345"/>
            <a:ext cx="571500" cy="571500"/>
          </a:xfrm>
          <a:prstGeom prst="ellipse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995721" y="2015338"/>
            <a:ext cx="200254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86477" y="2558491"/>
            <a:ext cx="18242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데이터의 가치화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953305" y="2905049"/>
            <a:ext cx="22860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수기 관리되던 이력을 'House Log'로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디지털 자산화하여, 매매 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객관적인 가치 증빙 자료로 활용합니다. 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064094" y="1644091"/>
            <a:ext cx="3562502" cy="2085746"/>
          </a:xfrm>
          <a:prstGeom prst="roundRect">
            <a:avLst>
              <a:gd name="adj" fmla="val 48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9556394" y="1844345"/>
            <a:ext cx="571500" cy="571500"/>
          </a:xfrm>
          <a:prstGeom prst="ellipse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9756648" y="2015338"/>
            <a:ext cx="171907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9350" y="2558491"/>
            <a:ext cx="1752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관리 표준 수립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718804" y="2905049"/>
            <a:ext cx="22485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비대면 인프라와 AI 기술을 결합하여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원격 임대인도 안심하고 맡길 수 있는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표준화된 관리 프로세스를 정립합니다. 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71500" y="4008730"/>
            <a:ext cx="11048695" cy="523951"/>
          </a:xfrm>
          <a:prstGeom prst="roundRect">
            <a:avLst>
              <a:gd name="adj" fmla="val 76154"/>
            </a:avLst>
          </a:prstGeom>
          <a:solidFill>
            <a:srgbClr val="111827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819302" y="4166921"/>
            <a:ext cx="1505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556" b="-556"/>
          <a:stretch/>
        </p:blipFill>
        <p:spPr>
          <a:xfrm>
            <a:off x="4440326" y="4198010"/>
            <a:ext cx="123444" cy="14264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59782" y="4160520"/>
            <a:ext cx="1247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구독료 (SaaS)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87161" y="4198010"/>
            <a:ext cx="142646" cy="14264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324905" y="4160520"/>
            <a:ext cx="1527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 대행 수수료</a:t>
            </a:r>
            <a:endParaRPr lang="en-US" sz="11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l="-428" r="-428"/>
          <a:stretch/>
        </p:blipFill>
        <p:spPr>
          <a:xfrm>
            <a:off x="7985455" y="4198010"/>
            <a:ext cx="161849" cy="14264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242402" y="4160520"/>
            <a:ext cx="11183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 결제 수수료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rcRect l="-2" r="-2"/>
          <a:stretch/>
        </p:blipFill>
        <p:spPr>
          <a:xfrm>
            <a:off x="571500" y="4816145"/>
            <a:ext cx="11048695" cy="1304849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190549" y="5054803"/>
            <a:ext cx="7858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NEXT STEPS </a:t>
            </a:r>
            <a:endParaRPr lang="en-US" sz="15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95198" y="5103266"/>
            <a:ext cx="200254" cy="200254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895198" y="5494630"/>
            <a:ext cx="2000707" cy="390449"/>
          </a:xfrm>
          <a:prstGeom prst="roundRect">
            <a:avLst>
              <a:gd name="adj" fmla="val 6854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5"/>
          <p:cNvSpPr/>
          <p:nvPr/>
        </p:nvSpPr>
        <p:spPr>
          <a:xfrm>
            <a:off x="1047902" y="5593385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1095451" y="5636362"/>
            <a:ext cx="95098" cy="105156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333195" y="5580583"/>
            <a:ext cx="16596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기능별 PO/담당자 지정</a:t>
            </a:r>
            <a:endParaRPr lang="en-US" sz="1100" dirty="0"/>
          </a:p>
        </p:txBody>
      </p:sp>
      <p:sp>
        <p:nvSpPr>
          <p:cNvPr id="40" name="Shape 27"/>
          <p:cNvSpPr/>
          <p:nvPr/>
        </p:nvSpPr>
        <p:spPr>
          <a:xfrm>
            <a:off x="3176626" y="5494630"/>
            <a:ext cx="2180844" cy="390449"/>
          </a:xfrm>
          <a:prstGeom prst="roundRect">
            <a:avLst>
              <a:gd name="adj" fmla="val 6854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3329330" y="5593385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3376879" y="5636362"/>
            <a:ext cx="95098" cy="105156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3615538" y="5580583"/>
            <a:ext cx="1917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백로그 우선순위 정리</a:t>
            </a:r>
            <a:endParaRPr lang="en-US" sz="1100" dirty="0"/>
          </a:p>
        </p:txBody>
      </p:sp>
      <p:sp>
        <p:nvSpPr>
          <p:cNvPr id="44" name="Shape 30"/>
          <p:cNvSpPr/>
          <p:nvPr/>
        </p:nvSpPr>
        <p:spPr>
          <a:xfrm>
            <a:off x="5639105" y="5494630"/>
            <a:ext cx="1962302" cy="390449"/>
          </a:xfrm>
          <a:prstGeom prst="roundRect">
            <a:avLst>
              <a:gd name="adj" fmla="val 6854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1"/>
          <p:cNvSpPr/>
          <p:nvPr/>
        </p:nvSpPr>
        <p:spPr>
          <a:xfrm>
            <a:off x="5790895" y="5593385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5839358" y="5636362"/>
            <a:ext cx="95098" cy="105156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077102" y="5580583"/>
            <a:ext cx="1633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스프린트 Kick-off</a:t>
            </a:r>
            <a:endParaRPr lang="en-US" sz="1100" dirty="0"/>
          </a:p>
        </p:txBody>
      </p:sp>
      <p:sp>
        <p:nvSpPr>
          <p:cNvPr id="48" name="Text 33"/>
          <p:cNvSpPr txBox="1"/>
          <p:nvPr/>
        </p:nvSpPr>
        <p:spPr>
          <a:xfrm>
            <a:off x="8988552" y="5194706"/>
            <a:ext cx="2352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Real Estate</a:t>
            </a:r>
            <a:endParaRPr lang="en-US" sz="1800" dirty="0"/>
          </a:p>
        </p:txBody>
      </p:sp>
      <p:sp>
        <p:nvSpPr>
          <p:cNvPr id="49" name="Text 34"/>
          <p:cNvSpPr txBox="1"/>
          <p:nvPr/>
        </p:nvSpPr>
        <p:spPr>
          <a:xfrm>
            <a:off x="8846820" y="5469026"/>
            <a:ext cx="249448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&amp; Smarter.</a:t>
            </a:r>
            <a:endParaRPr lang="en-US" sz="1800" dirty="0"/>
          </a:p>
        </p:txBody>
      </p:sp>
      <p:sp>
        <p:nvSpPr>
          <p:cNvPr id="50" name="Shape 35"/>
          <p:cNvSpPr/>
          <p:nvPr/>
        </p:nvSpPr>
        <p:spPr>
          <a:xfrm>
            <a:off x="571500" y="6177686"/>
            <a:ext cx="11048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6"/>
          <p:cNvSpPr txBox="1"/>
          <p:nvPr/>
        </p:nvSpPr>
        <p:spPr>
          <a:xfrm>
            <a:off x="571500" y="6282842"/>
            <a:ext cx="2652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Butler Project Presentation | Page 20</a:t>
            </a:r>
            <a:endParaRPr lang="en-US" sz="1000" dirty="0"/>
          </a:p>
        </p:txBody>
      </p:sp>
      <p:sp>
        <p:nvSpPr>
          <p:cNvPr id="52" name="Text 37"/>
          <p:cNvSpPr txBox="1"/>
          <p:nvPr/>
        </p:nvSpPr>
        <p:spPr>
          <a:xfrm>
            <a:off x="8747150" y="6282842"/>
            <a:ext cx="34225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2026 Butler Project Team.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2806</Words>
  <Application>Microsoft Office PowerPoint</Application>
  <PresentationFormat>와이드스크린</PresentationFormat>
  <Paragraphs>510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Noto Sans KR</vt:lpstr>
      <vt:lpstr>Arial</vt:lpstr>
      <vt:lpstr>Montserrat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박정호(***1***025)</cp:lastModifiedBy>
  <cp:revision>6</cp:revision>
  <dcterms:created xsi:type="dcterms:W3CDTF">2026-03-12T06:36:56Z</dcterms:created>
  <dcterms:modified xsi:type="dcterms:W3CDTF">2026-03-19T06:57:25Z</dcterms:modified>
</cp:coreProperties>
</file>